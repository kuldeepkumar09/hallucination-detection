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1097280"/>
            <a:ext cx="9418320" cy="384048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418320" cy="1005840"/>
          </a:xfrm>
          <a:prstGeom prst="rect">
            <a:avLst/>
          </a:prstGeom>
          <a:noFill/>
        </p:spPr>
        <p:txBody>
          <a:bodyPr wrap="square">
            <a:spAutoFit/>
          </a:bodyPr>
          <a:lstStyle/>
          <a:p>
            <a:pPr algn="ctr"/>
            <a:r>
              <a:rPr sz="5400" b="1">
                <a:solidFill>
                  <a:srgbClr val="38BDF8"/>
                </a:solidFill>
              </a:rPr>
              <a:t>HalluCheck v3</a:t>
            </a:r>
          </a:p>
        </p:txBody>
      </p:sp>
      <p:sp>
        <p:nvSpPr>
          <p:cNvPr id="5" name="TextBox 4"/>
          <p:cNvSpPr txBox="1"/>
          <p:nvPr/>
        </p:nvSpPr>
        <p:spPr>
          <a:xfrm>
            <a:off x="1371600" y="2331720"/>
            <a:ext cx="9418320" cy="548640"/>
          </a:xfrm>
          <a:prstGeom prst="rect">
            <a:avLst/>
          </a:prstGeom>
          <a:noFill/>
        </p:spPr>
        <p:txBody>
          <a:bodyPr wrap="square">
            <a:spAutoFit/>
          </a:bodyPr>
          <a:lstStyle/>
          <a:p>
            <a:pPr algn="ctr"/>
            <a:r>
              <a:rPr sz="2200" b="0">
                <a:solidFill>
                  <a:srgbClr val="FFFFFF"/>
                </a:solidFill>
              </a:rPr>
              <a:t>Real-Time Hallucination Detection Middleware</a:t>
            </a:r>
          </a:p>
        </p:txBody>
      </p:sp>
      <p:sp>
        <p:nvSpPr>
          <p:cNvPr id="6" name="TextBox 5"/>
          <p:cNvSpPr txBox="1"/>
          <p:nvPr/>
        </p:nvSpPr>
        <p:spPr>
          <a:xfrm>
            <a:off x="1371600" y="2834640"/>
            <a:ext cx="9418320" cy="411480"/>
          </a:xfrm>
          <a:prstGeom prst="rect">
            <a:avLst/>
          </a:prstGeom>
          <a:noFill/>
        </p:spPr>
        <p:txBody>
          <a:bodyPr wrap="square">
            <a:spAutoFit/>
          </a:bodyPr>
          <a:lstStyle/>
          <a:p>
            <a:pPr algn="ctr"/>
            <a:r>
              <a:rPr sz="1800" b="0">
                <a:solidFill>
                  <a:srgbClr val="94A3B8"/>
                </a:solidFill>
              </a:rPr>
              <a:t>for Large Language Models</a:t>
            </a:r>
          </a:p>
        </p:txBody>
      </p:sp>
      <p:sp>
        <p:nvSpPr>
          <p:cNvPr id="7" name="TextBox 6"/>
          <p:cNvSpPr txBox="1"/>
          <p:nvPr/>
        </p:nvSpPr>
        <p:spPr>
          <a:xfrm>
            <a:off x="1371600" y="3337560"/>
            <a:ext cx="9418320" cy="365760"/>
          </a:xfrm>
          <a:prstGeom prst="rect">
            <a:avLst/>
          </a:prstGeom>
          <a:noFill/>
        </p:spPr>
        <p:txBody>
          <a:bodyPr wrap="square">
            <a:spAutoFit/>
          </a:bodyPr>
          <a:lstStyle/>
          <a:p>
            <a:pPr algn="ctr"/>
            <a:r>
              <a:rPr sz="1400" b="0">
                <a:solidFill>
                  <a:srgbClr val="94A3B8"/>
                </a:solidFill>
              </a:rPr>
              <a:t>Built with  NVIDIA NIM · ChromaDB · Redis · FastAPI · React</a:t>
            </a:r>
          </a:p>
        </p:txBody>
      </p:sp>
      <p:sp>
        <p:nvSpPr>
          <p:cNvPr id="8" name="Rectangle 7"/>
          <p:cNvSpPr/>
          <p:nvPr/>
        </p:nvSpPr>
        <p:spPr>
          <a:xfrm>
            <a:off x="1371600" y="5120640"/>
            <a:ext cx="2103120" cy="8686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5166360"/>
            <a:ext cx="2103120" cy="457200"/>
          </a:xfrm>
          <a:prstGeom prst="rect">
            <a:avLst/>
          </a:prstGeom>
          <a:noFill/>
        </p:spPr>
        <p:txBody>
          <a:bodyPr wrap="square">
            <a:spAutoFit/>
          </a:bodyPr>
          <a:lstStyle/>
          <a:p>
            <a:pPr algn="ctr"/>
            <a:r>
              <a:rPr sz="2800" b="1">
                <a:solidFill>
                  <a:srgbClr val="38BDF8"/>
                </a:solidFill>
              </a:rPr>
              <a:t>7,705+</a:t>
            </a:r>
          </a:p>
        </p:txBody>
      </p:sp>
      <p:sp>
        <p:nvSpPr>
          <p:cNvPr id="10" name="TextBox 9"/>
          <p:cNvSpPr txBox="1"/>
          <p:nvPr/>
        </p:nvSpPr>
        <p:spPr>
          <a:xfrm>
            <a:off x="1371600" y="5577840"/>
            <a:ext cx="2103120" cy="274320"/>
          </a:xfrm>
          <a:prstGeom prst="rect">
            <a:avLst/>
          </a:prstGeom>
          <a:noFill/>
        </p:spPr>
        <p:txBody>
          <a:bodyPr wrap="square">
            <a:spAutoFit/>
          </a:bodyPr>
          <a:lstStyle/>
          <a:p>
            <a:pPr algn="ctr"/>
            <a:r>
              <a:rPr sz="1100" b="0">
                <a:solidFill>
                  <a:srgbClr val="94A3B8"/>
                </a:solidFill>
              </a:rPr>
              <a:t>KB Chunks</a:t>
            </a:r>
          </a:p>
        </p:txBody>
      </p:sp>
      <p:sp>
        <p:nvSpPr>
          <p:cNvPr id="11" name="Rectangle 10"/>
          <p:cNvSpPr/>
          <p:nvPr/>
        </p:nvSpPr>
        <p:spPr>
          <a:xfrm>
            <a:off x="3611880" y="5120640"/>
            <a:ext cx="2103120" cy="8686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5166360"/>
            <a:ext cx="2103120" cy="457200"/>
          </a:xfrm>
          <a:prstGeom prst="rect">
            <a:avLst/>
          </a:prstGeom>
          <a:noFill/>
        </p:spPr>
        <p:txBody>
          <a:bodyPr wrap="square">
            <a:spAutoFit/>
          </a:bodyPr>
          <a:lstStyle/>
          <a:p>
            <a:pPr algn="ctr"/>
            <a:r>
              <a:rPr sz="2800" b="1">
                <a:solidFill>
                  <a:srgbClr val="34D399"/>
                </a:solidFill>
              </a:rPr>
              <a:t>~9 s</a:t>
            </a:r>
          </a:p>
        </p:txBody>
      </p:sp>
      <p:sp>
        <p:nvSpPr>
          <p:cNvPr id="13" name="TextBox 12"/>
          <p:cNvSpPr txBox="1"/>
          <p:nvPr/>
        </p:nvSpPr>
        <p:spPr>
          <a:xfrm>
            <a:off x="3611880" y="5577840"/>
            <a:ext cx="2103120" cy="274320"/>
          </a:xfrm>
          <a:prstGeom prst="rect">
            <a:avLst/>
          </a:prstGeom>
          <a:noFill/>
        </p:spPr>
        <p:txBody>
          <a:bodyPr wrap="square">
            <a:spAutoFit/>
          </a:bodyPr>
          <a:lstStyle/>
          <a:p>
            <a:pPr algn="ctr"/>
            <a:r>
              <a:rPr sz="1100" b="0">
                <a:solidFill>
                  <a:srgbClr val="94A3B8"/>
                </a:solidFill>
              </a:rPr>
              <a:t>Pipeline Speed</a:t>
            </a:r>
          </a:p>
        </p:txBody>
      </p:sp>
      <p:sp>
        <p:nvSpPr>
          <p:cNvPr id="14" name="Rectangle 13"/>
          <p:cNvSpPr/>
          <p:nvPr/>
        </p:nvSpPr>
        <p:spPr>
          <a:xfrm>
            <a:off x="5852160" y="5120640"/>
            <a:ext cx="2103120" cy="8686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5166360"/>
            <a:ext cx="2103120" cy="457200"/>
          </a:xfrm>
          <a:prstGeom prst="rect">
            <a:avLst/>
          </a:prstGeom>
          <a:noFill/>
        </p:spPr>
        <p:txBody>
          <a:bodyPr wrap="square">
            <a:spAutoFit/>
          </a:bodyPr>
          <a:lstStyle/>
          <a:p>
            <a:pPr algn="ctr"/>
            <a:r>
              <a:rPr sz="2800" b="1">
                <a:solidFill>
                  <a:srgbClr val="FBBF24"/>
                </a:solidFill>
              </a:rPr>
              <a:t>46 Tests</a:t>
            </a:r>
          </a:p>
        </p:txBody>
      </p:sp>
      <p:sp>
        <p:nvSpPr>
          <p:cNvPr id="16" name="TextBox 15"/>
          <p:cNvSpPr txBox="1"/>
          <p:nvPr/>
        </p:nvSpPr>
        <p:spPr>
          <a:xfrm>
            <a:off x="5852160" y="5577840"/>
            <a:ext cx="2103120" cy="274320"/>
          </a:xfrm>
          <a:prstGeom prst="rect">
            <a:avLst/>
          </a:prstGeom>
          <a:noFill/>
        </p:spPr>
        <p:txBody>
          <a:bodyPr wrap="square">
            <a:spAutoFit/>
          </a:bodyPr>
          <a:lstStyle/>
          <a:p>
            <a:pPr algn="ctr"/>
            <a:r>
              <a:rPr sz="1100" b="0">
                <a:solidFill>
                  <a:srgbClr val="94A3B8"/>
                </a:solidFill>
              </a:rPr>
              <a:t>Test Cases</a:t>
            </a:r>
          </a:p>
        </p:txBody>
      </p:sp>
      <p:sp>
        <p:nvSpPr>
          <p:cNvPr id="17" name="Rectangle 16"/>
          <p:cNvSpPr/>
          <p:nvPr/>
        </p:nvSpPr>
        <p:spPr>
          <a:xfrm>
            <a:off x="8092440" y="5120640"/>
            <a:ext cx="2103120" cy="86868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5166360"/>
            <a:ext cx="2103120" cy="457200"/>
          </a:xfrm>
          <a:prstGeom prst="rect">
            <a:avLst/>
          </a:prstGeom>
          <a:noFill/>
        </p:spPr>
        <p:txBody>
          <a:bodyPr wrap="square">
            <a:spAutoFit/>
          </a:bodyPr>
          <a:lstStyle/>
          <a:p>
            <a:pPr algn="ctr"/>
            <a:r>
              <a:rPr sz="2800" b="1">
                <a:solidFill>
                  <a:srgbClr val="34D399"/>
                </a:solidFill>
              </a:rPr>
              <a:t>A</a:t>
            </a:r>
          </a:p>
        </p:txBody>
      </p:sp>
      <p:sp>
        <p:nvSpPr>
          <p:cNvPr id="19" name="TextBox 18"/>
          <p:cNvSpPr txBox="1"/>
          <p:nvPr/>
        </p:nvSpPr>
        <p:spPr>
          <a:xfrm>
            <a:off x="8092440" y="5577840"/>
            <a:ext cx="2103120" cy="274320"/>
          </a:xfrm>
          <a:prstGeom prst="rect">
            <a:avLst/>
          </a:prstGeom>
          <a:noFill/>
        </p:spPr>
        <p:txBody>
          <a:bodyPr wrap="square">
            <a:spAutoFit/>
          </a:bodyPr>
          <a:lstStyle/>
          <a:p>
            <a:pPr algn="ctr"/>
            <a:r>
              <a:rPr sz="1100" b="0">
                <a:solidFill>
                  <a:srgbClr val="94A3B8"/>
                </a:solidFill>
              </a:rPr>
              <a:t>Project Grade</a:t>
            </a:r>
          </a:p>
        </p:txBody>
      </p:sp>
      <p:sp>
        <p:nvSpPr>
          <p:cNvPr id="20" name="TextBox 19"/>
          <p:cNvSpPr txBox="1"/>
          <p:nvPr/>
        </p:nvSpPr>
        <p:spPr>
          <a:xfrm>
            <a:off x="0" y="6309360"/>
            <a:ext cx="12188952" cy="365760"/>
          </a:xfrm>
          <a:prstGeom prst="rect">
            <a:avLst/>
          </a:prstGeom>
          <a:noFill/>
        </p:spPr>
        <p:txBody>
          <a:bodyPr wrap="square">
            <a:spAutoFit/>
          </a:bodyPr>
          <a:lstStyle/>
          <a:p>
            <a:pPr algn="ctr"/>
            <a:r>
              <a:rPr sz="1300" b="0">
                <a:solidFill>
                  <a:srgbClr val="94A3B8"/>
                </a:solidFill>
              </a:rPr>
              <a:t>AI / ML Project  —  Claim-Level Fact Verification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01  The Problem</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Why hallucination detection matters in production</a:t>
            </a:r>
          </a:p>
        </p:txBody>
      </p:sp>
      <p:sp>
        <p:nvSpPr>
          <p:cNvPr id="6" name="TextBox 5"/>
          <p:cNvSpPr txBox="1"/>
          <p:nvPr/>
        </p:nvSpPr>
        <p:spPr>
          <a:xfrm>
            <a:off x="365760" y="1371600"/>
            <a:ext cx="11430000" cy="502920"/>
          </a:xfrm>
          <a:prstGeom prst="rect">
            <a:avLst/>
          </a:prstGeom>
          <a:noFill/>
        </p:spPr>
        <p:txBody>
          <a:bodyPr wrap="square">
            <a:spAutoFit/>
          </a:bodyPr>
          <a:lstStyle/>
          <a:p>
            <a:pPr algn="l"/>
            <a:r>
              <a:rPr sz="1600" b="0">
                <a:solidFill>
                  <a:srgbClr val="CBD5E1"/>
                </a:solidFill>
              </a:rPr>
              <a:t>LLMs confidently generate false information — called hallucinations. In medicine, law, and finance, a single wrong fact causes real harm.</a:t>
            </a:r>
          </a:p>
        </p:txBody>
      </p:sp>
      <p:sp>
        <p:nvSpPr>
          <p:cNvPr id="7" name="Rectangle 6"/>
          <p:cNvSpPr/>
          <p:nvPr/>
        </p:nvSpPr>
        <p:spPr>
          <a:xfrm>
            <a:off x="365760" y="1965960"/>
            <a:ext cx="292608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91840" y="1965960"/>
            <a:ext cx="822960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020824"/>
            <a:ext cx="2788920" cy="347472"/>
          </a:xfrm>
          <a:prstGeom prst="rect">
            <a:avLst/>
          </a:prstGeom>
          <a:noFill/>
        </p:spPr>
        <p:txBody>
          <a:bodyPr wrap="square">
            <a:spAutoFit/>
          </a:bodyPr>
          <a:lstStyle/>
          <a:p>
            <a:pPr algn="l"/>
            <a:r>
              <a:rPr sz="1200" b="1">
                <a:solidFill>
                  <a:srgbClr val="38BDF8"/>
                </a:solidFill>
              </a:rPr>
              <a:t>Medical risk</a:t>
            </a:r>
          </a:p>
        </p:txBody>
      </p:sp>
      <p:sp>
        <p:nvSpPr>
          <p:cNvPr id="10" name="TextBox 9"/>
          <p:cNvSpPr txBox="1"/>
          <p:nvPr/>
        </p:nvSpPr>
        <p:spPr>
          <a:xfrm>
            <a:off x="3383280" y="2020824"/>
            <a:ext cx="8092440" cy="347472"/>
          </a:xfrm>
          <a:prstGeom prst="rect">
            <a:avLst/>
          </a:prstGeom>
          <a:noFill/>
        </p:spPr>
        <p:txBody>
          <a:bodyPr wrap="square">
            <a:spAutoFit/>
          </a:bodyPr>
          <a:lstStyle/>
          <a:p>
            <a:pPr algn="l"/>
            <a:r>
              <a:rPr sz="1200" b="0">
                <a:solidFill>
                  <a:srgbClr val="CBD5E1"/>
                </a:solidFill>
              </a:rPr>
              <a:t>LLM says 'Ibuprofen is safe in all trimesters' — dangerously wrong.</a:t>
            </a:r>
          </a:p>
        </p:txBody>
      </p:sp>
      <p:sp>
        <p:nvSpPr>
          <p:cNvPr id="11" name="Rectangle 10"/>
          <p:cNvSpPr/>
          <p:nvPr/>
        </p:nvSpPr>
        <p:spPr>
          <a:xfrm>
            <a:off x="365760" y="2404872"/>
            <a:ext cx="2926080" cy="43891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91840" y="2404872"/>
            <a:ext cx="8229600" cy="43891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459736"/>
            <a:ext cx="2788920" cy="347472"/>
          </a:xfrm>
          <a:prstGeom prst="rect">
            <a:avLst/>
          </a:prstGeom>
          <a:noFill/>
        </p:spPr>
        <p:txBody>
          <a:bodyPr wrap="square">
            <a:spAutoFit/>
          </a:bodyPr>
          <a:lstStyle/>
          <a:p>
            <a:pPr algn="l"/>
            <a:r>
              <a:rPr sz="1200" b="1">
                <a:solidFill>
                  <a:srgbClr val="38BDF8"/>
                </a:solidFill>
              </a:rPr>
              <a:t>Legal risk</a:t>
            </a:r>
          </a:p>
        </p:txBody>
      </p:sp>
      <p:sp>
        <p:nvSpPr>
          <p:cNvPr id="14" name="TextBox 13"/>
          <p:cNvSpPr txBox="1"/>
          <p:nvPr/>
        </p:nvSpPr>
        <p:spPr>
          <a:xfrm>
            <a:off x="3383280" y="2459736"/>
            <a:ext cx="8092440" cy="347472"/>
          </a:xfrm>
          <a:prstGeom prst="rect">
            <a:avLst/>
          </a:prstGeom>
          <a:noFill/>
        </p:spPr>
        <p:txBody>
          <a:bodyPr wrap="square">
            <a:spAutoFit/>
          </a:bodyPr>
          <a:lstStyle/>
          <a:p>
            <a:pPr algn="l"/>
            <a:r>
              <a:rPr sz="1200" b="0">
                <a:solidFill>
                  <a:srgbClr val="CBD5E1"/>
                </a:solidFill>
              </a:rPr>
              <a:t>Wrong statute dates or fine amounts mislead professionals.</a:t>
            </a:r>
          </a:p>
        </p:txBody>
      </p:sp>
      <p:sp>
        <p:nvSpPr>
          <p:cNvPr id="15" name="Rectangle 14"/>
          <p:cNvSpPr/>
          <p:nvPr/>
        </p:nvSpPr>
        <p:spPr>
          <a:xfrm>
            <a:off x="365760" y="2843784"/>
            <a:ext cx="292608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91840" y="2843784"/>
            <a:ext cx="822960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2898648"/>
            <a:ext cx="2788920" cy="347472"/>
          </a:xfrm>
          <a:prstGeom prst="rect">
            <a:avLst/>
          </a:prstGeom>
          <a:noFill/>
        </p:spPr>
        <p:txBody>
          <a:bodyPr wrap="square">
            <a:spAutoFit/>
          </a:bodyPr>
          <a:lstStyle/>
          <a:p>
            <a:pPr algn="l"/>
            <a:r>
              <a:rPr sz="1200" b="1">
                <a:solidFill>
                  <a:srgbClr val="38BDF8"/>
                </a:solidFill>
              </a:rPr>
              <a:t>Financial risk</a:t>
            </a:r>
          </a:p>
        </p:txBody>
      </p:sp>
      <p:sp>
        <p:nvSpPr>
          <p:cNvPr id="18" name="TextBox 17"/>
          <p:cNvSpPr txBox="1"/>
          <p:nvPr/>
        </p:nvSpPr>
        <p:spPr>
          <a:xfrm>
            <a:off x="3383280" y="2898648"/>
            <a:ext cx="8092440" cy="347472"/>
          </a:xfrm>
          <a:prstGeom prst="rect">
            <a:avLst/>
          </a:prstGeom>
          <a:noFill/>
        </p:spPr>
        <p:txBody>
          <a:bodyPr wrap="square">
            <a:spAutoFit/>
          </a:bodyPr>
          <a:lstStyle/>
          <a:p>
            <a:pPr algn="l"/>
            <a:r>
              <a:rPr sz="1200" b="0">
                <a:solidFill>
                  <a:srgbClr val="CBD5E1"/>
                </a:solidFill>
              </a:rPr>
              <a:t>Wrong FDIC limits or GDP figures cause real monetary harm.</a:t>
            </a:r>
          </a:p>
        </p:txBody>
      </p:sp>
      <p:sp>
        <p:nvSpPr>
          <p:cNvPr id="19" name="Rectangle 18"/>
          <p:cNvSpPr/>
          <p:nvPr/>
        </p:nvSpPr>
        <p:spPr>
          <a:xfrm>
            <a:off x="365760" y="3282696"/>
            <a:ext cx="2926080" cy="43891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91840" y="3282696"/>
            <a:ext cx="8229600" cy="43891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337560"/>
            <a:ext cx="2788920" cy="347472"/>
          </a:xfrm>
          <a:prstGeom prst="rect">
            <a:avLst/>
          </a:prstGeom>
          <a:noFill/>
        </p:spPr>
        <p:txBody>
          <a:bodyPr wrap="square">
            <a:spAutoFit/>
          </a:bodyPr>
          <a:lstStyle/>
          <a:p>
            <a:pPr algn="l"/>
            <a:r>
              <a:rPr sz="1200" b="1">
                <a:solidFill>
                  <a:srgbClr val="38BDF8"/>
                </a:solidFill>
              </a:rPr>
              <a:t>Trust erosion</a:t>
            </a:r>
          </a:p>
        </p:txBody>
      </p:sp>
      <p:sp>
        <p:nvSpPr>
          <p:cNvPr id="22" name="TextBox 21"/>
          <p:cNvSpPr txBox="1"/>
          <p:nvPr/>
        </p:nvSpPr>
        <p:spPr>
          <a:xfrm>
            <a:off x="3383280" y="3337560"/>
            <a:ext cx="8092440" cy="347472"/>
          </a:xfrm>
          <a:prstGeom prst="rect">
            <a:avLst/>
          </a:prstGeom>
          <a:noFill/>
        </p:spPr>
        <p:txBody>
          <a:bodyPr wrap="square">
            <a:spAutoFit/>
          </a:bodyPr>
          <a:lstStyle/>
          <a:p>
            <a:pPr algn="l"/>
            <a:r>
              <a:rPr sz="1200" b="0">
                <a:solidFill>
                  <a:srgbClr val="CBD5E1"/>
                </a:solidFill>
              </a:rPr>
              <a:t>Users cannot tell when an LLM is fabricating — they need a safety net.</a:t>
            </a:r>
          </a:p>
        </p:txBody>
      </p:sp>
      <p:sp>
        <p:nvSpPr>
          <p:cNvPr id="23" name="Rectangle 22"/>
          <p:cNvSpPr/>
          <p:nvPr/>
        </p:nvSpPr>
        <p:spPr>
          <a:xfrm>
            <a:off x="365760" y="3721608"/>
            <a:ext cx="292608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91840" y="3721608"/>
            <a:ext cx="8229600" cy="43891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3776472"/>
            <a:ext cx="2788920" cy="347472"/>
          </a:xfrm>
          <a:prstGeom prst="rect">
            <a:avLst/>
          </a:prstGeom>
          <a:noFill/>
        </p:spPr>
        <p:txBody>
          <a:bodyPr wrap="square">
            <a:spAutoFit/>
          </a:bodyPr>
          <a:lstStyle/>
          <a:p>
            <a:pPr algn="l"/>
            <a:r>
              <a:rPr sz="1200" b="1">
                <a:solidFill>
                  <a:srgbClr val="38BDF8"/>
                </a:solidFill>
              </a:rPr>
              <a:t>Gap in market</a:t>
            </a:r>
          </a:p>
        </p:txBody>
      </p:sp>
      <p:sp>
        <p:nvSpPr>
          <p:cNvPr id="26" name="TextBox 25"/>
          <p:cNvSpPr txBox="1"/>
          <p:nvPr/>
        </p:nvSpPr>
        <p:spPr>
          <a:xfrm>
            <a:off x="3383280" y="3776472"/>
            <a:ext cx="8092440" cy="347472"/>
          </a:xfrm>
          <a:prstGeom prst="rect">
            <a:avLst/>
          </a:prstGeom>
          <a:noFill/>
        </p:spPr>
        <p:txBody>
          <a:bodyPr wrap="square">
            <a:spAutoFit/>
          </a:bodyPr>
          <a:lstStyle/>
          <a:p>
            <a:pPr algn="l"/>
            <a:r>
              <a:rPr sz="1200" b="0">
                <a:solidFill>
                  <a:srgbClr val="CBD5E1"/>
                </a:solidFill>
              </a:rPr>
              <a:t>Existing tools either block everything (too strict) or do nothing (too loose).</a:t>
            </a:r>
          </a:p>
        </p:txBody>
      </p:sp>
      <p:sp>
        <p:nvSpPr>
          <p:cNvPr id="27" name="TextBox 26"/>
          <p:cNvSpPr txBox="1"/>
          <p:nvPr/>
        </p:nvSpPr>
        <p:spPr>
          <a:xfrm>
            <a:off x="365760" y="4297680"/>
            <a:ext cx="11430000" cy="640080"/>
          </a:xfrm>
          <a:prstGeom prst="rect">
            <a:avLst/>
          </a:prstGeom>
          <a:noFill/>
        </p:spPr>
        <p:txBody>
          <a:bodyPr wrap="square">
            <a:spAutoFit/>
          </a:bodyPr>
          <a:lstStyle/>
          <a:p>
            <a:pPr algn="l"/>
            <a:r>
              <a:rPr sz="1500" b="1">
                <a:solidFill>
                  <a:srgbClr val="FBBF24"/>
                </a:solidFill>
              </a:rPr>
              <a:t>There is no production-ready middleware that detects, flags, and corrects hallucinations claim-by-claim in real time — until HalluCheck.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02  Our Solution</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HalluCheck — claim-level RAG verification</a:t>
            </a:r>
          </a:p>
        </p:txBody>
      </p:sp>
      <p:sp>
        <p:nvSpPr>
          <p:cNvPr id="6" name="TextBox 5"/>
          <p:cNvSpPr txBox="1"/>
          <p:nvPr/>
        </p:nvSpPr>
        <p:spPr>
          <a:xfrm>
            <a:off x="365760" y="1371600"/>
            <a:ext cx="11430000" cy="640080"/>
          </a:xfrm>
          <a:prstGeom prst="rect">
            <a:avLst/>
          </a:prstGeom>
          <a:noFill/>
        </p:spPr>
        <p:txBody>
          <a:bodyPr wrap="square">
            <a:spAutoFit/>
          </a:bodyPr>
          <a:lstStyle/>
          <a:p>
            <a:pPr algn="l"/>
            <a:r>
              <a:rPr sz="1500" b="0">
                <a:solidFill>
                  <a:srgbClr val="CBD5E1"/>
                </a:solidFill>
              </a:rPr>
              <a:t>HalluCheck sits between any LLM and the end user. It intercepts every response, extracts individual factual claims, verifies each one against an authoritative knowledge base, and rewrites wrong answers before they reach the user.</a:t>
            </a:r>
          </a:p>
        </p:txBody>
      </p:sp>
      <p:sp>
        <p:nvSpPr>
          <p:cNvPr id="7" name="Rectangle 6"/>
          <p:cNvSpPr/>
          <p:nvPr/>
        </p:nvSpPr>
        <p:spPr>
          <a:xfrm>
            <a:off x="33375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3756" y="2286000"/>
            <a:ext cx="1371600" cy="347472"/>
          </a:xfrm>
          <a:prstGeom prst="rect">
            <a:avLst/>
          </a:prstGeom>
          <a:noFill/>
        </p:spPr>
        <p:txBody>
          <a:bodyPr wrap="square">
            <a:spAutoFit/>
          </a:bodyPr>
          <a:lstStyle/>
          <a:p>
            <a:pPr algn="ctr"/>
            <a:r>
              <a:rPr sz="2000" b="0">
                <a:solidFill>
                  <a:srgbClr val="38BDF8"/>
                </a:solidFill>
              </a:rPr>
              <a:t>📥</a:t>
            </a:r>
          </a:p>
        </p:txBody>
      </p:sp>
      <p:sp>
        <p:nvSpPr>
          <p:cNvPr id="9" name="TextBox 8"/>
          <p:cNvSpPr txBox="1"/>
          <p:nvPr/>
        </p:nvSpPr>
        <p:spPr>
          <a:xfrm>
            <a:off x="333756" y="2624328"/>
            <a:ext cx="1371600" cy="256032"/>
          </a:xfrm>
          <a:prstGeom prst="rect">
            <a:avLst/>
          </a:prstGeom>
          <a:noFill/>
        </p:spPr>
        <p:txBody>
          <a:bodyPr wrap="square">
            <a:spAutoFit/>
          </a:bodyPr>
          <a:lstStyle/>
          <a:p>
            <a:pPr algn="ctr"/>
            <a:r>
              <a:rPr sz="1100" b="1">
                <a:solidFill>
                  <a:srgbClr val="FFFFFF"/>
                </a:solidFill>
              </a:rPr>
              <a:t>Input</a:t>
            </a:r>
          </a:p>
        </p:txBody>
      </p:sp>
      <p:sp>
        <p:nvSpPr>
          <p:cNvPr id="10" name="TextBox 9"/>
          <p:cNvSpPr txBox="1"/>
          <p:nvPr/>
        </p:nvSpPr>
        <p:spPr>
          <a:xfrm>
            <a:off x="333756" y="2898648"/>
            <a:ext cx="1371600" cy="228600"/>
          </a:xfrm>
          <a:prstGeom prst="rect">
            <a:avLst/>
          </a:prstGeom>
          <a:noFill/>
        </p:spPr>
        <p:txBody>
          <a:bodyPr wrap="square">
            <a:spAutoFit/>
          </a:bodyPr>
          <a:lstStyle/>
          <a:p>
            <a:pPr algn="ctr"/>
            <a:r>
              <a:rPr sz="900" b="0">
                <a:solidFill>
                  <a:srgbClr val="94A3B8"/>
                </a:solidFill>
              </a:rPr>
              <a:t>LLM output</a:t>
            </a:r>
          </a:p>
        </p:txBody>
      </p:sp>
      <p:sp>
        <p:nvSpPr>
          <p:cNvPr id="11" name="TextBox 10"/>
          <p:cNvSpPr txBox="1"/>
          <p:nvPr/>
        </p:nvSpPr>
        <p:spPr>
          <a:xfrm>
            <a:off x="1705356" y="2514600"/>
            <a:ext cx="320040" cy="457200"/>
          </a:xfrm>
          <a:prstGeom prst="rect">
            <a:avLst/>
          </a:prstGeom>
          <a:noFill/>
        </p:spPr>
        <p:txBody>
          <a:bodyPr wrap="square">
            <a:spAutoFit/>
          </a:bodyPr>
          <a:lstStyle/>
          <a:p>
            <a:pPr algn="ctr"/>
            <a:r>
              <a:rPr sz="1800" b="1">
                <a:solidFill>
                  <a:srgbClr val="38BDF8"/>
                </a:solidFill>
              </a:rPr>
              <a:t>→</a:t>
            </a:r>
          </a:p>
        </p:txBody>
      </p:sp>
      <p:sp>
        <p:nvSpPr>
          <p:cNvPr id="12" name="Rectangle 11"/>
          <p:cNvSpPr/>
          <p:nvPr/>
        </p:nvSpPr>
        <p:spPr>
          <a:xfrm>
            <a:off x="202539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25396" y="2286000"/>
            <a:ext cx="1371600" cy="347472"/>
          </a:xfrm>
          <a:prstGeom prst="rect">
            <a:avLst/>
          </a:prstGeom>
          <a:noFill/>
        </p:spPr>
        <p:txBody>
          <a:bodyPr wrap="square">
            <a:spAutoFit/>
          </a:bodyPr>
          <a:lstStyle/>
          <a:p>
            <a:pPr algn="ctr"/>
            <a:r>
              <a:rPr sz="2000" b="0">
                <a:solidFill>
                  <a:srgbClr val="38BDF8"/>
                </a:solidFill>
              </a:rPr>
              <a:t>🔍</a:t>
            </a:r>
          </a:p>
        </p:txBody>
      </p:sp>
      <p:sp>
        <p:nvSpPr>
          <p:cNvPr id="14" name="TextBox 13"/>
          <p:cNvSpPr txBox="1"/>
          <p:nvPr/>
        </p:nvSpPr>
        <p:spPr>
          <a:xfrm>
            <a:off x="2025396" y="2624328"/>
            <a:ext cx="1371600" cy="256032"/>
          </a:xfrm>
          <a:prstGeom prst="rect">
            <a:avLst/>
          </a:prstGeom>
          <a:noFill/>
        </p:spPr>
        <p:txBody>
          <a:bodyPr wrap="square">
            <a:spAutoFit/>
          </a:bodyPr>
          <a:lstStyle/>
          <a:p>
            <a:pPr algn="ctr"/>
            <a:r>
              <a:rPr sz="1100" b="1">
                <a:solidFill>
                  <a:srgbClr val="FFFFFF"/>
                </a:solidFill>
              </a:rPr>
              <a:t>Extract</a:t>
            </a:r>
          </a:p>
        </p:txBody>
      </p:sp>
      <p:sp>
        <p:nvSpPr>
          <p:cNvPr id="15" name="TextBox 14"/>
          <p:cNvSpPr txBox="1"/>
          <p:nvPr/>
        </p:nvSpPr>
        <p:spPr>
          <a:xfrm>
            <a:off x="2025396" y="2898648"/>
            <a:ext cx="1371600" cy="228600"/>
          </a:xfrm>
          <a:prstGeom prst="rect">
            <a:avLst/>
          </a:prstGeom>
          <a:noFill/>
        </p:spPr>
        <p:txBody>
          <a:bodyPr wrap="square">
            <a:spAutoFit/>
          </a:bodyPr>
          <a:lstStyle/>
          <a:p>
            <a:pPr algn="ctr"/>
            <a:r>
              <a:rPr sz="900" b="0">
                <a:solidFill>
                  <a:srgbClr val="94A3B8"/>
                </a:solidFill>
              </a:rPr>
              <a:t>Claimify</a:t>
            </a:r>
          </a:p>
        </p:txBody>
      </p:sp>
      <p:sp>
        <p:nvSpPr>
          <p:cNvPr id="16" name="TextBox 15"/>
          <p:cNvSpPr txBox="1"/>
          <p:nvPr/>
        </p:nvSpPr>
        <p:spPr>
          <a:xfrm>
            <a:off x="3396996" y="2514600"/>
            <a:ext cx="320040" cy="457200"/>
          </a:xfrm>
          <a:prstGeom prst="rect">
            <a:avLst/>
          </a:prstGeom>
          <a:noFill/>
        </p:spPr>
        <p:txBody>
          <a:bodyPr wrap="square">
            <a:spAutoFit/>
          </a:bodyPr>
          <a:lstStyle/>
          <a:p>
            <a:pPr algn="ctr"/>
            <a:r>
              <a:rPr sz="1800" b="1">
                <a:solidFill>
                  <a:srgbClr val="38BDF8"/>
                </a:solidFill>
              </a:rPr>
              <a:t>→</a:t>
            </a:r>
          </a:p>
        </p:txBody>
      </p:sp>
      <p:sp>
        <p:nvSpPr>
          <p:cNvPr id="17" name="Rectangle 16"/>
          <p:cNvSpPr/>
          <p:nvPr/>
        </p:nvSpPr>
        <p:spPr>
          <a:xfrm>
            <a:off x="371703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17036" y="2286000"/>
            <a:ext cx="1371600" cy="347472"/>
          </a:xfrm>
          <a:prstGeom prst="rect">
            <a:avLst/>
          </a:prstGeom>
          <a:noFill/>
        </p:spPr>
        <p:txBody>
          <a:bodyPr wrap="square">
            <a:spAutoFit/>
          </a:bodyPr>
          <a:lstStyle/>
          <a:p>
            <a:pPr algn="ctr"/>
            <a:r>
              <a:rPr sz="2000" b="0">
                <a:solidFill>
                  <a:srgbClr val="38BDF8"/>
                </a:solidFill>
              </a:rPr>
              <a:t>📚</a:t>
            </a:r>
          </a:p>
        </p:txBody>
      </p:sp>
      <p:sp>
        <p:nvSpPr>
          <p:cNvPr id="19" name="TextBox 18"/>
          <p:cNvSpPr txBox="1"/>
          <p:nvPr/>
        </p:nvSpPr>
        <p:spPr>
          <a:xfrm>
            <a:off x="3717036" y="2624328"/>
            <a:ext cx="1371600" cy="256032"/>
          </a:xfrm>
          <a:prstGeom prst="rect">
            <a:avLst/>
          </a:prstGeom>
          <a:noFill/>
        </p:spPr>
        <p:txBody>
          <a:bodyPr wrap="square">
            <a:spAutoFit/>
          </a:bodyPr>
          <a:lstStyle/>
          <a:p>
            <a:pPr algn="ctr"/>
            <a:r>
              <a:rPr sz="1100" b="1">
                <a:solidFill>
                  <a:srgbClr val="FFFFFF"/>
                </a:solidFill>
              </a:rPr>
              <a:t>Retrieve</a:t>
            </a:r>
          </a:p>
        </p:txBody>
      </p:sp>
      <p:sp>
        <p:nvSpPr>
          <p:cNvPr id="20" name="TextBox 19"/>
          <p:cNvSpPr txBox="1"/>
          <p:nvPr/>
        </p:nvSpPr>
        <p:spPr>
          <a:xfrm>
            <a:off x="3717036" y="2898648"/>
            <a:ext cx="1371600" cy="228600"/>
          </a:xfrm>
          <a:prstGeom prst="rect">
            <a:avLst/>
          </a:prstGeom>
          <a:noFill/>
        </p:spPr>
        <p:txBody>
          <a:bodyPr wrap="square">
            <a:spAutoFit/>
          </a:bodyPr>
          <a:lstStyle/>
          <a:p>
            <a:pPr algn="ctr"/>
            <a:r>
              <a:rPr sz="900" b="0">
                <a:solidFill>
                  <a:srgbClr val="94A3B8"/>
                </a:solidFill>
              </a:rPr>
              <a:t>KB+Web</a:t>
            </a:r>
          </a:p>
        </p:txBody>
      </p:sp>
      <p:sp>
        <p:nvSpPr>
          <p:cNvPr id="21" name="TextBox 20"/>
          <p:cNvSpPr txBox="1"/>
          <p:nvPr/>
        </p:nvSpPr>
        <p:spPr>
          <a:xfrm>
            <a:off x="5088636" y="2514600"/>
            <a:ext cx="320040" cy="457200"/>
          </a:xfrm>
          <a:prstGeom prst="rect">
            <a:avLst/>
          </a:prstGeom>
          <a:noFill/>
        </p:spPr>
        <p:txBody>
          <a:bodyPr wrap="square">
            <a:spAutoFit/>
          </a:bodyPr>
          <a:lstStyle/>
          <a:p>
            <a:pPr algn="ctr"/>
            <a:r>
              <a:rPr sz="1800" b="1">
                <a:solidFill>
                  <a:srgbClr val="38BDF8"/>
                </a:solidFill>
              </a:rPr>
              <a:t>→</a:t>
            </a:r>
          </a:p>
        </p:txBody>
      </p:sp>
      <p:sp>
        <p:nvSpPr>
          <p:cNvPr id="22" name="Rectangle 21"/>
          <p:cNvSpPr/>
          <p:nvPr/>
        </p:nvSpPr>
        <p:spPr>
          <a:xfrm>
            <a:off x="540867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08676" y="2286000"/>
            <a:ext cx="1371600" cy="347472"/>
          </a:xfrm>
          <a:prstGeom prst="rect">
            <a:avLst/>
          </a:prstGeom>
          <a:noFill/>
        </p:spPr>
        <p:txBody>
          <a:bodyPr wrap="square">
            <a:spAutoFit/>
          </a:bodyPr>
          <a:lstStyle/>
          <a:p>
            <a:pPr algn="ctr"/>
            <a:r>
              <a:rPr sz="2000" b="0">
                <a:solidFill>
                  <a:srgbClr val="38BDF8"/>
                </a:solidFill>
              </a:rPr>
              <a:t>⚖️</a:t>
            </a:r>
          </a:p>
        </p:txBody>
      </p:sp>
      <p:sp>
        <p:nvSpPr>
          <p:cNvPr id="24" name="TextBox 23"/>
          <p:cNvSpPr txBox="1"/>
          <p:nvPr/>
        </p:nvSpPr>
        <p:spPr>
          <a:xfrm>
            <a:off x="5408676" y="2624328"/>
            <a:ext cx="1371600" cy="256032"/>
          </a:xfrm>
          <a:prstGeom prst="rect">
            <a:avLst/>
          </a:prstGeom>
          <a:noFill/>
        </p:spPr>
        <p:txBody>
          <a:bodyPr wrap="square">
            <a:spAutoFit/>
          </a:bodyPr>
          <a:lstStyle/>
          <a:p>
            <a:pPr algn="ctr"/>
            <a:r>
              <a:rPr sz="1100" b="1">
                <a:solidFill>
                  <a:srgbClr val="FFFFFF"/>
                </a:solidFill>
              </a:rPr>
              <a:t>Verify</a:t>
            </a:r>
          </a:p>
        </p:txBody>
      </p:sp>
      <p:sp>
        <p:nvSpPr>
          <p:cNvPr id="25" name="TextBox 24"/>
          <p:cNvSpPr txBox="1"/>
          <p:nvPr/>
        </p:nvSpPr>
        <p:spPr>
          <a:xfrm>
            <a:off x="5408676" y="2898648"/>
            <a:ext cx="1371600" cy="228600"/>
          </a:xfrm>
          <a:prstGeom prst="rect">
            <a:avLst/>
          </a:prstGeom>
          <a:noFill/>
        </p:spPr>
        <p:txBody>
          <a:bodyPr wrap="square">
            <a:spAutoFit/>
          </a:bodyPr>
          <a:lstStyle/>
          <a:p>
            <a:pPr algn="ctr"/>
            <a:r>
              <a:rPr sz="900" b="0">
                <a:solidFill>
                  <a:srgbClr val="94A3B8"/>
                </a:solidFill>
              </a:rPr>
              <a:t>LLM check</a:t>
            </a:r>
          </a:p>
        </p:txBody>
      </p:sp>
      <p:sp>
        <p:nvSpPr>
          <p:cNvPr id="26" name="TextBox 25"/>
          <p:cNvSpPr txBox="1"/>
          <p:nvPr/>
        </p:nvSpPr>
        <p:spPr>
          <a:xfrm>
            <a:off x="6780276" y="2514600"/>
            <a:ext cx="320040" cy="457200"/>
          </a:xfrm>
          <a:prstGeom prst="rect">
            <a:avLst/>
          </a:prstGeom>
          <a:noFill/>
        </p:spPr>
        <p:txBody>
          <a:bodyPr wrap="square">
            <a:spAutoFit/>
          </a:bodyPr>
          <a:lstStyle/>
          <a:p>
            <a:pPr algn="ctr"/>
            <a:r>
              <a:rPr sz="1800" b="1">
                <a:solidFill>
                  <a:srgbClr val="38BDF8"/>
                </a:solidFill>
              </a:rPr>
              <a:t>→</a:t>
            </a:r>
          </a:p>
        </p:txBody>
      </p:sp>
      <p:sp>
        <p:nvSpPr>
          <p:cNvPr id="27" name="Rectangle 26"/>
          <p:cNvSpPr/>
          <p:nvPr/>
        </p:nvSpPr>
        <p:spPr>
          <a:xfrm>
            <a:off x="710031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00316" y="2286000"/>
            <a:ext cx="1371600" cy="347472"/>
          </a:xfrm>
          <a:prstGeom prst="rect">
            <a:avLst/>
          </a:prstGeom>
          <a:noFill/>
        </p:spPr>
        <p:txBody>
          <a:bodyPr wrap="square">
            <a:spAutoFit/>
          </a:bodyPr>
          <a:lstStyle/>
          <a:p>
            <a:pPr algn="ctr"/>
            <a:r>
              <a:rPr sz="2000" b="0">
                <a:solidFill>
                  <a:srgbClr val="38BDF8"/>
                </a:solidFill>
              </a:rPr>
              <a:t>🚦</a:t>
            </a:r>
          </a:p>
        </p:txBody>
      </p:sp>
      <p:sp>
        <p:nvSpPr>
          <p:cNvPr id="29" name="TextBox 28"/>
          <p:cNvSpPr txBox="1"/>
          <p:nvPr/>
        </p:nvSpPr>
        <p:spPr>
          <a:xfrm>
            <a:off x="7100316" y="2624328"/>
            <a:ext cx="1371600" cy="256032"/>
          </a:xfrm>
          <a:prstGeom prst="rect">
            <a:avLst/>
          </a:prstGeom>
          <a:noFill/>
        </p:spPr>
        <p:txBody>
          <a:bodyPr wrap="square">
            <a:spAutoFit/>
          </a:bodyPr>
          <a:lstStyle/>
          <a:p>
            <a:pPr algn="ctr"/>
            <a:r>
              <a:rPr sz="1100" b="1">
                <a:solidFill>
                  <a:srgbClr val="FFFFFF"/>
                </a:solidFill>
              </a:rPr>
              <a:t>Decide</a:t>
            </a:r>
          </a:p>
        </p:txBody>
      </p:sp>
      <p:sp>
        <p:nvSpPr>
          <p:cNvPr id="30" name="TextBox 29"/>
          <p:cNvSpPr txBox="1"/>
          <p:nvPr/>
        </p:nvSpPr>
        <p:spPr>
          <a:xfrm>
            <a:off x="7100316" y="2898648"/>
            <a:ext cx="1371600" cy="228600"/>
          </a:xfrm>
          <a:prstGeom prst="rect">
            <a:avLst/>
          </a:prstGeom>
          <a:noFill/>
        </p:spPr>
        <p:txBody>
          <a:bodyPr wrap="square">
            <a:spAutoFit/>
          </a:bodyPr>
          <a:lstStyle/>
          <a:p>
            <a:pPr algn="ctr"/>
            <a:r>
              <a:rPr sz="900" b="0">
                <a:solidFill>
                  <a:srgbClr val="94A3B8"/>
                </a:solidFill>
              </a:rPr>
              <a:t>Thresholds</a:t>
            </a:r>
          </a:p>
        </p:txBody>
      </p:sp>
      <p:sp>
        <p:nvSpPr>
          <p:cNvPr id="31" name="TextBox 30"/>
          <p:cNvSpPr txBox="1"/>
          <p:nvPr/>
        </p:nvSpPr>
        <p:spPr>
          <a:xfrm>
            <a:off x="8471916" y="2514600"/>
            <a:ext cx="320040" cy="457200"/>
          </a:xfrm>
          <a:prstGeom prst="rect">
            <a:avLst/>
          </a:prstGeom>
          <a:noFill/>
        </p:spPr>
        <p:txBody>
          <a:bodyPr wrap="square">
            <a:spAutoFit/>
          </a:bodyPr>
          <a:lstStyle/>
          <a:p>
            <a:pPr algn="ctr"/>
            <a:r>
              <a:rPr sz="1800" b="1">
                <a:solidFill>
                  <a:srgbClr val="38BDF8"/>
                </a:solidFill>
              </a:rPr>
              <a:t>→</a:t>
            </a:r>
          </a:p>
        </p:txBody>
      </p:sp>
      <p:sp>
        <p:nvSpPr>
          <p:cNvPr id="32" name="Rectangle 31"/>
          <p:cNvSpPr/>
          <p:nvPr/>
        </p:nvSpPr>
        <p:spPr>
          <a:xfrm>
            <a:off x="879195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91956" y="2286000"/>
            <a:ext cx="1371600" cy="347472"/>
          </a:xfrm>
          <a:prstGeom prst="rect">
            <a:avLst/>
          </a:prstGeom>
          <a:noFill/>
        </p:spPr>
        <p:txBody>
          <a:bodyPr wrap="square">
            <a:spAutoFit/>
          </a:bodyPr>
          <a:lstStyle/>
          <a:p>
            <a:pPr algn="ctr"/>
            <a:r>
              <a:rPr sz="2000" b="0">
                <a:solidFill>
                  <a:srgbClr val="38BDF8"/>
                </a:solidFill>
              </a:rPr>
              <a:t>✏️</a:t>
            </a:r>
          </a:p>
        </p:txBody>
      </p:sp>
      <p:sp>
        <p:nvSpPr>
          <p:cNvPr id="34" name="TextBox 33"/>
          <p:cNvSpPr txBox="1"/>
          <p:nvPr/>
        </p:nvSpPr>
        <p:spPr>
          <a:xfrm>
            <a:off x="8791956" y="2624328"/>
            <a:ext cx="1371600" cy="256032"/>
          </a:xfrm>
          <a:prstGeom prst="rect">
            <a:avLst/>
          </a:prstGeom>
          <a:noFill/>
        </p:spPr>
        <p:txBody>
          <a:bodyPr wrap="square">
            <a:spAutoFit/>
          </a:bodyPr>
          <a:lstStyle/>
          <a:p>
            <a:pPr algn="ctr"/>
            <a:r>
              <a:rPr sz="1100" b="1">
                <a:solidFill>
                  <a:srgbClr val="FFFFFF"/>
                </a:solidFill>
              </a:rPr>
              <a:t>Correct</a:t>
            </a:r>
          </a:p>
        </p:txBody>
      </p:sp>
      <p:sp>
        <p:nvSpPr>
          <p:cNvPr id="35" name="TextBox 34"/>
          <p:cNvSpPr txBox="1"/>
          <p:nvPr/>
        </p:nvSpPr>
        <p:spPr>
          <a:xfrm>
            <a:off x="8791956" y="2898648"/>
            <a:ext cx="1371600" cy="228600"/>
          </a:xfrm>
          <a:prstGeom prst="rect">
            <a:avLst/>
          </a:prstGeom>
          <a:noFill/>
        </p:spPr>
        <p:txBody>
          <a:bodyPr wrap="square">
            <a:spAutoFit/>
          </a:bodyPr>
          <a:lstStyle/>
          <a:p>
            <a:pPr algn="ctr"/>
            <a:r>
              <a:rPr sz="900" b="0">
                <a:solidFill>
                  <a:srgbClr val="94A3B8"/>
                </a:solidFill>
              </a:rPr>
              <a:t>Rewrite</a:t>
            </a:r>
          </a:p>
        </p:txBody>
      </p:sp>
      <p:sp>
        <p:nvSpPr>
          <p:cNvPr id="36" name="TextBox 35"/>
          <p:cNvSpPr txBox="1"/>
          <p:nvPr/>
        </p:nvSpPr>
        <p:spPr>
          <a:xfrm>
            <a:off x="10163556" y="2514600"/>
            <a:ext cx="320040" cy="457200"/>
          </a:xfrm>
          <a:prstGeom prst="rect">
            <a:avLst/>
          </a:prstGeom>
          <a:noFill/>
        </p:spPr>
        <p:txBody>
          <a:bodyPr wrap="square">
            <a:spAutoFit/>
          </a:bodyPr>
          <a:lstStyle/>
          <a:p>
            <a:pPr algn="ctr"/>
            <a:r>
              <a:rPr sz="1800" b="1">
                <a:solidFill>
                  <a:srgbClr val="38BDF8"/>
                </a:solidFill>
              </a:rPr>
              <a:t>→</a:t>
            </a:r>
          </a:p>
        </p:txBody>
      </p:sp>
      <p:sp>
        <p:nvSpPr>
          <p:cNvPr id="37" name="Rectangle 36"/>
          <p:cNvSpPr/>
          <p:nvPr/>
        </p:nvSpPr>
        <p:spPr>
          <a:xfrm>
            <a:off x="10483596" y="2240280"/>
            <a:ext cx="1371600" cy="1005840"/>
          </a:xfrm>
          <a:prstGeom prst="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83596" y="2286000"/>
            <a:ext cx="1371600" cy="347472"/>
          </a:xfrm>
          <a:prstGeom prst="rect">
            <a:avLst/>
          </a:prstGeom>
          <a:noFill/>
        </p:spPr>
        <p:txBody>
          <a:bodyPr wrap="square">
            <a:spAutoFit/>
          </a:bodyPr>
          <a:lstStyle/>
          <a:p>
            <a:pPr algn="ctr"/>
            <a:r>
              <a:rPr sz="2000" b="0">
                <a:solidFill>
                  <a:srgbClr val="38BDF8"/>
                </a:solidFill>
              </a:rPr>
              <a:t>📤</a:t>
            </a:r>
          </a:p>
        </p:txBody>
      </p:sp>
      <p:sp>
        <p:nvSpPr>
          <p:cNvPr id="39" name="TextBox 38"/>
          <p:cNvSpPr txBox="1"/>
          <p:nvPr/>
        </p:nvSpPr>
        <p:spPr>
          <a:xfrm>
            <a:off x="10483596" y="2624328"/>
            <a:ext cx="1371600" cy="256032"/>
          </a:xfrm>
          <a:prstGeom prst="rect">
            <a:avLst/>
          </a:prstGeom>
          <a:noFill/>
        </p:spPr>
        <p:txBody>
          <a:bodyPr wrap="square">
            <a:spAutoFit/>
          </a:bodyPr>
          <a:lstStyle/>
          <a:p>
            <a:pPr algn="ctr"/>
            <a:r>
              <a:rPr sz="1100" b="1">
                <a:solidFill>
                  <a:srgbClr val="FFFFFF"/>
                </a:solidFill>
              </a:rPr>
              <a:t>Output</a:t>
            </a:r>
          </a:p>
        </p:txBody>
      </p:sp>
      <p:sp>
        <p:nvSpPr>
          <p:cNvPr id="40" name="TextBox 39"/>
          <p:cNvSpPr txBox="1"/>
          <p:nvPr/>
        </p:nvSpPr>
        <p:spPr>
          <a:xfrm>
            <a:off x="10483596" y="2898648"/>
            <a:ext cx="1371600" cy="228600"/>
          </a:xfrm>
          <a:prstGeom prst="rect">
            <a:avLst/>
          </a:prstGeom>
          <a:noFill/>
        </p:spPr>
        <p:txBody>
          <a:bodyPr wrap="square">
            <a:spAutoFit/>
          </a:bodyPr>
          <a:lstStyle/>
          <a:p>
            <a:pPr algn="ctr"/>
            <a:r>
              <a:rPr sz="900" b="0">
                <a:solidFill>
                  <a:srgbClr val="94A3B8"/>
                </a:solidFill>
              </a:rPr>
              <a:t>Safe text</a:t>
            </a:r>
          </a:p>
        </p:txBody>
      </p:sp>
      <p:sp>
        <p:nvSpPr>
          <p:cNvPr id="41" name="Rectangle 40"/>
          <p:cNvSpPr/>
          <p:nvPr/>
        </p:nvSpPr>
        <p:spPr>
          <a:xfrm>
            <a:off x="365760" y="3474720"/>
            <a:ext cx="274320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0" y="3474720"/>
            <a:ext cx="84124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7200" y="3529584"/>
            <a:ext cx="2606040" cy="292608"/>
          </a:xfrm>
          <a:prstGeom prst="rect">
            <a:avLst/>
          </a:prstGeom>
          <a:noFill/>
        </p:spPr>
        <p:txBody>
          <a:bodyPr wrap="square">
            <a:spAutoFit/>
          </a:bodyPr>
          <a:lstStyle/>
          <a:p>
            <a:pPr algn="l"/>
            <a:r>
              <a:rPr sz="1200" b="1">
                <a:solidFill>
                  <a:srgbClr val="38BDF8"/>
                </a:solidFill>
              </a:rPr>
              <a:t>Claim-level</a:t>
            </a:r>
          </a:p>
        </p:txBody>
      </p:sp>
      <p:sp>
        <p:nvSpPr>
          <p:cNvPr id="44" name="TextBox 43"/>
          <p:cNvSpPr txBox="1"/>
          <p:nvPr/>
        </p:nvSpPr>
        <p:spPr>
          <a:xfrm>
            <a:off x="3200400" y="3529584"/>
            <a:ext cx="8275320" cy="292608"/>
          </a:xfrm>
          <a:prstGeom prst="rect">
            <a:avLst/>
          </a:prstGeom>
          <a:noFill/>
        </p:spPr>
        <p:txBody>
          <a:bodyPr wrap="square">
            <a:spAutoFit/>
          </a:bodyPr>
          <a:lstStyle/>
          <a:p>
            <a:pPr algn="l"/>
            <a:r>
              <a:rPr sz="1200" b="0">
                <a:solidFill>
                  <a:srgbClr val="CBD5E1"/>
                </a:solidFill>
              </a:rPr>
              <a:t>Operates on individual sentences — not the whole response.</a:t>
            </a:r>
          </a:p>
        </p:txBody>
      </p:sp>
      <p:sp>
        <p:nvSpPr>
          <p:cNvPr id="45" name="Rectangle 44"/>
          <p:cNvSpPr/>
          <p:nvPr/>
        </p:nvSpPr>
        <p:spPr>
          <a:xfrm>
            <a:off x="365760" y="3858768"/>
            <a:ext cx="274320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108960" y="3858768"/>
            <a:ext cx="841248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3913632"/>
            <a:ext cx="2606040" cy="292608"/>
          </a:xfrm>
          <a:prstGeom prst="rect">
            <a:avLst/>
          </a:prstGeom>
          <a:noFill/>
        </p:spPr>
        <p:txBody>
          <a:bodyPr wrap="square">
            <a:spAutoFit/>
          </a:bodyPr>
          <a:lstStyle/>
          <a:p>
            <a:pPr algn="l"/>
            <a:r>
              <a:rPr sz="1200" b="1">
                <a:solidFill>
                  <a:srgbClr val="38BDF8"/>
                </a:solidFill>
              </a:rPr>
              <a:t>Self-correcting</a:t>
            </a:r>
          </a:p>
        </p:txBody>
      </p:sp>
      <p:sp>
        <p:nvSpPr>
          <p:cNvPr id="48" name="TextBox 47"/>
          <p:cNvSpPr txBox="1"/>
          <p:nvPr/>
        </p:nvSpPr>
        <p:spPr>
          <a:xfrm>
            <a:off x="3200400" y="3913632"/>
            <a:ext cx="8275320" cy="292608"/>
          </a:xfrm>
          <a:prstGeom prst="rect">
            <a:avLst/>
          </a:prstGeom>
          <a:noFill/>
        </p:spPr>
        <p:txBody>
          <a:bodyPr wrap="square">
            <a:spAutoFit/>
          </a:bodyPr>
          <a:lstStyle/>
          <a:p>
            <a:pPr algn="l"/>
            <a:r>
              <a:rPr sz="1200" b="0">
                <a:solidFill>
                  <a:srgbClr val="CBD5E1"/>
                </a:solidFill>
              </a:rPr>
              <a:t>Rewrites blocked/flagged claims using verified evidence — unique feature.</a:t>
            </a:r>
          </a:p>
        </p:txBody>
      </p:sp>
      <p:sp>
        <p:nvSpPr>
          <p:cNvPr id="49" name="Rectangle 48"/>
          <p:cNvSpPr/>
          <p:nvPr/>
        </p:nvSpPr>
        <p:spPr>
          <a:xfrm>
            <a:off x="365760" y="4242816"/>
            <a:ext cx="274320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108960" y="4242816"/>
            <a:ext cx="84124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4297680"/>
            <a:ext cx="2606040" cy="292608"/>
          </a:xfrm>
          <a:prstGeom prst="rect">
            <a:avLst/>
          </a:prstGeom>
          <a:noFill/>
        </p:spPr>
        <p:txBody>
          <a:bodyPr wrap="square">
            <a:spAutoFit/>
          </a:bodyPr>
          <a:lstStyle/>
          <a:p>
            <a:pPr algn="l"/>
            <a:r>
              <a:rPr sz="1200" b="1">
                <a:solidFill>
                  <a:srgbClr val="38BDF8"/>
                </a:solidFill>
              </a:rPr>
              <a:t>Domain-aware</a:t>
            </a:r>
          </a:p>
        </p:txBody>
      </p:sp>
      <p:sp>
        <p:nvSpPr>
          <p:cNvPr id="52" name="TextBox 51"/>
          <p:cNvSpPr txBox="1"/>
          <p:nvPr/>
        </p:nvSpPr>
        <p:spPr>
          <a:xfrm>
            <a:off x="3200400" y="4297680"/>
            <a:ext cx="8275320" cy="292608"/>
          </a:xfrm>
          <a:prstGeom prst="rect">
            <a:avLst/>
          </a:prstGeom>
          <a:noFill/>
        </p:spPr>
        <p:txBody>
          <a:bodyPr wrap="square">
            <a:spAutoFit/>
          </a:bodyPr>
          <a:lstStyle/>
          <a:p>
            <a:pPr algn="l"/>
            <a:r>
              <a:rPr sz="1200" b="0">
                <a:solidFill>
                  <a:srgbClr val="CBD5E1"/>
                </a:solidFill>
              </a:rPr>
              <a:t>Medical needs 82% confidence; General only 40%.</a:t>
            </a:r>
          </a:p>
        </p:txBody>
      </p:sp>
      <p:sp>
        <p:nvSpPr>
          <p:cNvPr id="53" name="Rectangle 52"/>
          <p:cNvSpPr/>
          <p:nvPr/>
        </p:nvSpPr>
        <p:spPr>
          <a:xfrm>
            <a:off x="365760" y="4626864"/>
            <a:ext cx="274320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3108960" y="4626864"/>
            <a:ext cx="841248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4681728"/>
            <a:ext cx="2606040" cy="292608"/>
          </a:xfrm>
          <a:prstGeom prst="rect">
            <a:avLst/>
          </a:prstGeom>
          <a:noFill/>
        </p:spPr>
        <p:txBody>
          <a:bodyPr wrap="square">
            <a:spAutoFit/>
          </a:bodyPr>
          <a:lstStyle/>
          <a:p>
            <a:pPr algn="l"/>
            <a:r>
              <a:rPr sz="1200" b="1">
                <a:solidFill>
                  <a:srgbClr val="38BDF8"/>
                </a:solidFill>
              </a:rPr>
              <a:t>Streaming SSE</a:t>
            </a:r>
          </a:p>
        </p:txBody>
      </p:sp>
      <p:sp>
        <p:nvSpPr>
          <p:cNvPr id="56" name="TextBox 55"/>
          <p:cNvSpPr txBox="1"/>
          <p:nvPr/>
        </p:nvSpPr>
        <p:spPr>
          <a:xfrm>
            <a:off x="3200400" y="4681728"/>
            <a:ext cx="8275320" cy="292608"/>
          </a:xfrm>
          <a:prstGeom prst="rect">
            <a:avLst/>
          </a:prstGeom>
          <a:noFill/>
        </p:spPr>
        <p:txBody>
          <a:bodyPr wrap="square">
            <a:spAutoFit/>
          </a:bodyPr>
          <a:lstStyle/>
          <a:p>
            <a:pPr algn="l"/>
            <a:r>
              <a:rPr sz="1200" b="0">
                <a:solidFill>
                  <a:srgbClr val="CBD5E1"/>
                </a:solidFill>
              </a:rPr>
              <a:t>Results stream claim-by-claim in real time — no waiting.</a:t>
            </a:r>
          </a:p>
        </p:txBody>
      </p:sp>
      <p:sp>
        <p:nvSpPr>
          <p:cNvPr id="57" name="Rectangle 56"/>
          <p:cNvSpPr/>
          <p:nvPr/>
        </p:nvSpPr>
        <p:spPr>
          <a:xfrm>
            <a:off x="365760" y="5010912"/>
            <a:ext cx="274320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108960" y="5010912"/>
            <a:ext cx="84124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5065776"/>
            <a:ext cx="2606040" cy="292608"/>
          </a:xfrm>
          <a:prstGeom prst="rect">
            <a:avLst/>
          </a:prstGeom>
          <a:noFill/>
        </p:spPr>
        <p:txBody>
          <a:bodyPr wrap="square">
            <a:spAutoFit/>
          </a:bodyPr>
          <a:lstStyle/>
          <a:p>
            <a:pPr algn="l"/>
            <a:r>
              <a:rPr sz="1200" b="1">
                <a:solidFill>
                  <a:srgbClr val="38BDF8"/>
                </a:solidFill>
              </a:rPr>
              <a:t>100% free stack</a:t>
            </a:r>
          </a:p>
        </p:txBody>
      </p:sp>
      <p:sp>
        <p:nvSpPr>
          <p:cNvPr id="60" name="TextBox 59"/>
          <p:cNvSpPr txBox="1"/>
          <p:nvPr/>
        </p:nvSpPr>
        <p:spPr>
          <a:xfrm>
            <a:off x="3200400" y="5065776"/>
            <a:ext cx="8275320" cy="292608"/>
          </a:xfrm>
          <a:prstGeom prst="rect">
            <a:avLst/>
          </a:prstGeom>
          <a:noFill/>
        </p:spPr>
        <p:txBody>
          <a:bodyPr wrap="square">
            <a:spAutoFit/>
          </a:bodyPr>
          <a:lstStyle/>
          <a:p>
            <a:pPr algn="l"/>
            <a:r>
              <a:rPr sz="1200" b="0">
                <a:solidFill>
                  <a:srgbClr val="CBD5E1"/>
                </a:solidFill>
              </a:rPr>
              <a:t>NVIDIA NIM free tier, ChromaDB, Redis — $0/month to run.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03  Architecture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Production-grade 6-component stack</a:t>
            </a:r>
          </a:p>
        </p:txBody>
      </p:sp>
      <p:sp>
        <p:nvSpPr>
          <p:cNvPr id="6" name="Rectangle 5"/>
          <p:cNvSpPr/>
          <p:nvPr/>
        </p:nvSpPr>
        <p:spPr>
          <a:xfrm>
            <a:off x="365760" y="1371600"/>
            <a:ext cx="292608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91840" y="1371600"/>
            <a:ext cx="868680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26464"/>
            <a:ext cx="2788920" cy="365760"/>
          </a:xfrm>
          <a:prstGeom prst="rect">
            <a:avLst/>
          </a:prstGeom>
          <a:noFill/>
        </p:spPr>
        <p:txBody>
          <a:bodyPr wrap="square">
            <a:spAutoFit/>
          </a:bodyPr>
          <a:lstStyle/>
          <a:p>
            <a:pPr algn="l"/>
            <a:r>
              <a:rPr sz="1200" b="1">
                <a:solidFill>
                  <a:srgbClr val="38BDF8"/>
                </a:solidFill>
              </a:rPr>
              <a:t>FastAPI Backend</a:t>
            </a:r>
          </a:p>
        </p:txBody>
      </p:sp>
      <p:sp>
        <p:nvSpPr>
          <p:cNvPr id="9" name="TextBox 8"/>
          <p:cNvSpPr txBox="1"/>
          <p:nvPr/>
        </p:nvSpPr>
        <p:spPr>
          <a:xfrm>
            <a:off x="3383280" y="1426464"/>
            <a:ext cx="8549640" cy="365760"/>
          </a:xfrm>
          <a:prstGeom prst="rect">
            <a:avLst/>
          </a:prstGeom>
          <a:noFill/>
        </p:spPr>
        <p:txBody>
          <a:bodyPr wrap="square">
            <a:spAutoFit/>
          </a:bodyPr>
          <a:lstStyle/>
          <a:p>
            <a:pPr algn="l"/>
            <a:r>
              <a:rPr sz="1200" b="0">
                <a:solidFill>
                  <a:srgbClr val="CBD5E1"/>
                </a:solidFill>
              </a:rPr>
              <a:t>Async Python — SSE streaming, rate limiting (20 req/min), role-based auth (read + admin keys), input validation.</a:t>
            </a:r>
          </a:p>
        </p:txBody>
      </p:sp>
      <p:sp>
        <p:nvSpPr>
          <p:cNvPr id="10" name="Rectangle 9"/>
          <p:cNvSpPr/>
          <p:nvPr/>
        </p:nvSpPr>
        <p:spPr>
          <a:xfrm>
            <a:off x="365760" y="1828800"/>
            <a:ext cx="292608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40" y="1828800"/>
            <a:ext cx="868680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83664"/>
            <a:ext cx="2788920" cy="365760"/>
          </a:xfrm>
          <a:prstGeom prst="rect">
            <a:avLst/>
          </a:prstGeom>
          <a:noFill/>
        </p:spPr>
        <p:txBody>
          <a:bodyPr wrap="square">
            <a:spAutoFit/>
          </a:bodyPr>
          <a:lstStyle/>
          <a:p>
            <a:pPr algn="l"/>
            <a:r>
              <a:rPr sz="1200" b="1">
                <a:solidFill>
                  <a:srgbClr val="38BDF8"/>
                </a:solidFill>
              </a:rPr>
              <a:t>ChromaDB</a:t>
            </a:r>
          </a:p>
        </p:txBody>
      </p:sp>
      <p:sp>
        <p:nvSpPr>
          <p:cNvPr id="13" name="TextBox 12"/>
          <p:cNvSpPr txBox="1"/>
          <p:nvPr/>
        </p:nvSpPr>
        <p:spPr>
          <a:xfrm>
            <a:off x="3383280" y="1883664"/>
            <a:ext cx="8549640" cy="365760"/>
          </a:xfrm>
          <a:prstGeom prst="rect">
            <a:avLst/>
          </a:prstGeom>
          <a:noFill/>
        </p:spPr>
        <p:txBody>
          <a:bodyPr wrap="square">
            <a:spAutoFit/>
          </a:bodyPr>
          <a:lstStyle/>
          <a:p>
            <a:pPr algn="l"/>
            <a:r>
              <a:rPr sz="1200" b="0">
                <a:solidFill>
                  <a:srgbClr val="CBD5E1"/>
                </a:solidFill>
              </a:rPr>
              <a:t>Persistent vector store. HNSW cosine index. 7,705 chunks across 20+ Wikipedia articles + domain fact sheets.</a:t>
            </a:r>
          </a:p>
        </p:txBody>
      </p:sp>
      <p:sp>
        <p:nvSpPr>
          <p:cNvPr id="14" name="Rectangle 13"/>
          <p:cNvSpPr/>
          <p:nvPr/>
        </p:nvSpPr>
        <p:spPr>
          <a:xfrm>
            <a:off x="365760" y="2286000"/>
            <a:ext cx="292608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2286000"/>
            <a:ext cx="868680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40864"/>
            <a:ext cx="2788920" cy="365760"/>
          </a:xfrm>
          <a:prstGeom prst="rect">
            <a:avLst/>
          </a:prstGeom>
          <a:noFill/>
        </p:spPr>
        <p:txBody>
          <a:bodyPr wrap="square">
            <a:spAutoFit/>
          </a:bodyPr>
          <a:lstStyle/>
          <a:p>
            <a:pPr algn="l"/>
            <a:r>
              <a:rPr sz="1200" b="1">
                <a:solidFill>
                  <a:srgbClr val="38BDF8"/>
                </a:solidFill>
              </a:rPr>
              <a:t>Redis</a:t>
            </a:r>
          </a:p>
        </p:txBody>
      </p:sp>
      <p:sp>
        <p:nvSpPr>
          <p:cNvPr id="17" name="TextBox 16"/>
          <p:cNvSpPr txBox="1"/>
          <p:nvPr/>
        </p:nvSpPr>
        <p:spPr>
          <a:xfrm>
            <a:off x="3383280" y="2340864"/>
            <a:ext cx="8549640" cy="365760"/>
          </a:xfrm>
          <a:prstGeom prst="rect">
            <a:avLst/>
          </a:prstGeom>
          <a:noFill/>
        </p:spPr>
        <p:txBody>
          <a:bodyPr wrap="square">
            <a:spAutoFit/>
          </a:bodyPr>
          <a:lstStyle/>
          <a:p>
            <a:pPr algn="l"/>
            <a:r>
              <a:rPr sz="1200" b="0">
                <a:solidFill>
                  <a:srgbClr val="CBD5E1"/>
                </a:solidFill>
              </a:rPr>
              <a:t>Distributed claim cache (1h TTL). Semantic ChromaDB cache for near-duplicate queries. Prevents re-verification.</a:t>
            </a:r>
          </a:p>
        </p:txBody>
      </p:sp>
      <p:sp>
        <p:nvSpPr>
          <p:cNvPr id="18" name="Rectangle 17"/>
          <p:cNvSpPr/>
          <p:nvPr/>
        </p:nvSpPr>
        <p:spPr>
          <a:xfrm>
            <a:off x="365760" y="2743200"/>
            <a:ext cx="292608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2743200"/>
            <a:ext cx="868680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798064"/>
            <a:ext cx="2788920" cy="365760"/>
          </a:xfrm>
          <a:prstGeom prst="rect">
            <a:avLst/>
          </a:prstGeom>
          <a:noFill/>
        </p:spPr>
        <p:txBody>
          <a:bodyPr wrap="square">
            <a:spAutoFit/>
          </a:bodyPr>
          <a:lstStyle/>
          <a:p>
            <a:pPr algn="l"/>
            <a:r>
              <a:rPr sz="1200" b="1">
                <a:solidFill>
                  <a:srgbClr val="38BDF8"/>
                </a:solidFill>
              </a:rPr>
              <a:t>NVIDIA NIM</a:t>
            </a:r>
          </a:p>
        </p:txBody>
      </p:sp>
      <p:sp>
        <p:nvSpPr>
          <p:cNvPr id="21" name="TextBox 20"/>
          <p:cNvSpPr txBox="1"/>
          <p:nvPr/>
        </p:nvSpPr>
        <p:spPr>
          <a:xfrm>
            <a:off x="3383280" y="2798064"/>
            <a:ext cx="8549640" cy="365760"/>
          </a:xfrm>
          <a:prstGeom prst="rect">
            <a:avLst/>
          </a:prstGeom>
          <a:noFill/>
        </p:spPr>
        <p:txBody>
          <a:bodyPr wrap="square">
            <a:spAutoFit/>
          </a:bodyPr>
          <a:lstStyle/>
          <a:p>
            <a:pPr algn="l"/>
            <a:r>
              <a:rPr sz="1200" b="0">
                <a:solidFill>
                  <a:srgbClr val="CBD5E1"/>
                </a:solidFill>
              </a:rPr>
              <a:t>Free-tier cloud GPU inference. llama-3.2-3b (extractor, fast) + llama-3.3-70b (verifier, accurate). ~9s end-to-end.</a:t>
            </a:r>
          </a:p>
        </p:txBody>
      </p:sp>
      <p:sp>
        <p:nvSpPr>
          <p:cNvPr id="22" name="Rectangle 21"/>
          <p:cNvSpPr/>
          <p:nvPr/>
        </p:nvSpPr>
        <p:spPr>
          <a:xfrm>
            <a:off x="365760" y="3200400"/>
            <a:ext cx="292608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91840" y="3200400"/>
            <a:ext cx="868680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255264"/>
            <a:ext cx="2788920" cy="365760"/>
          </a:xfrm>
          <a:prstGeom prst="rect">
            <a:avLst/>
          </a:prstGeom>
          <a:noFill/>
        </p:spPr>
        <p:txBody>
          <a:bodyPr wrap="square">
            <a:spAutoFit/>
          </a:bodyPr>
          <a:lstStyle/>
          <a:p>
            <a:pPr algn="l"/>
            <a:r>
              <a:rPr sz="1200" b="1">
                <a:solidFill>
                  <a:srgbClr val="38BDF8"/>
                </a:solidFill>
              </a:rPr>
              <a:t>React SPA</a:t>
            </a:r>
          </a:p>
        </p:txBody>
      </p:sp>
      <p:sp>
        <p:nvSpPr>
          <p:cNvPr id="25" name="TextBox 24"/>
          <p:cNvSpPr txBox="1"/>
          <p:nvPr/>
        </p:nvSpPr>
        <p:spPr>
          <a:xfrm>
            <a:off x="3383280" y="3255264"/>
            <a:ext cx="8549640" cy="365760"/>
          </a:xfrm>
          <a:prstGeom prst="rect">
            <a:avLst/>
          </a:prstGeom>
          <a:noFill/>
        </p:spPr>
        <p:txBody>
          <a:bodyPr wrap="square">
            <a:spAutoFit/>
          </a:bodyPr>
          <a:lstStyle/>
          <a:p>
            <a:pPr algn="l"/>
            <a:r>
              <a:rPr sz="1200" b="0">
                <a:solidFill>
                  <a:srgbClr val="CBD5E1"/>
                </a:solidFill>
              </a:rPr>
              <a:t>5-tab frontend (Playground, Dashboard, KB, Audit, Settings). SSE consumer for real-time claim streaming.</a:t>
            </a:r>
          </a:p>
        </p:txBody>
      </p:sp>
      <p:sp>
        <p:nvSpPr>
          <p:cNvPr id="26" name="Rectangle 25"/>
          <p:cNvSpPr/>
          <p:nvPr/>
        </p:nvSpPr>
        <p:spPr>
          <a:xfrm>
            <a:off x="365760" y="3657600"/>
            <a:ext cx="292608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91840" y="3657600"/>
            <a:ext cx="868680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12464"/>
            <a:ext cx="2788920" cy="365760"/>
          </a:xfrm>
          <a:prstGeom prst="rect">
            <a:avLst/>
          </a:prstGeom>
          <a:noFill/>
        </p:spPr>
        <p:txBody>
          <a:bodyPr wrap="square">
            <a:spAutoFit/>
          </a:bodyPr>
          <a:lstStyle/>
          <a:p>
            <a:pPr algn="l"/>
            <a:r>
              <a:rPr sz="1200" b="1">
                <a:solidFill>
                  <a:srgbClr val="38BDF8"/>
                </a:solidFill>
              </a:rPr>
              <a:t>Docker + nginx</a:t>
            </a:r>
          </a:p>
        </p:txBody>
      </p:sp>
      <p:sp>
        <p:nvSpPr>
          <p:cNvPr id="29" name="TextBox 28"/>
          <p:cNvSpPr txBox="1"/>
          <p:nvPr/>
        </p:nvSpPr>
        <p:spPr>
          <a:xfrm>
            <a:off x="3383280" y="3712464"/>
            <a:ext cx="8549640" cy="365760"/>
          </a:xfrm>
          <a:prstGeom prst="rect">
            <a:avLst/>
          </a:prstGeom>
          <a:noFill/>
        </p:spPr>
        <p:txBody>
          <a:bodyPr wrap="square">
            <a:spAutoFit/>
          </a:bodyPr>
          <a:lstStyle/>
          <a:p>
            <a:pPr algn="l"/>
            <a:r>
              <a:rPr sz="1200" b="0">
                <a:solidFill>
                  <a:srgbClr val="CBD5E1"/>
                </a:solidFill>
              </a:rPr>
              <a:t>4-service Compose stack. TLS termination, HTTP→HTTPS redirect. Models baked in — zero cold-start downloads.</a:t>
            </a:r>
          </a:p>
        </p:txBody>
      </p:sp>
      <p:sp>
        <p:nvSpPr>
          <p:cNvPr id="30" name="TextBox 29"/>
          <p:cNvSpPr txBox="1"/>
          <p:nvPr/>
        </p:nvSpPr>
        <p:spPr>
          <a:xfrm>
            <a:off x="365760" y="4663440"/>
            <a:ext cx="5486400" cy="320040"/>
          </a:xfrm>
          <a:prstGeom prst="rect">
            <a:avLst/>
          </a:prstGeom>
          <a:noFill/>
        </p:spPr>
        <p:txBody>
          <a:bodyPr wrap="square">
            <a:spAutoFit/>
          </a:bodyPr>
          <a:lstStyle/>
          <a:p>
            <a:pPr algn="l"/>
            <a:r>
              <a:rPr sz="1300" b="1">
                <a:solidFill>
                  <a:srgbClr val="38BDF8"/>
                </a:solidFill>
              </a:rPr>
              <a:t>Request lifecycle:</a:t>
            </a:r>
          </a:p>
        </p:txBody>
      </p:sp>
      <p:sp>
        <p:nvSpPr>
          <p:cNvPr id="31" name="Rectangle 30"/>
          <p:cNvSpPr/>
          <p:nvPr/>
        </p:nvSpPr>
        <p:spPr>
          <a:xfrm>
            <a:off x="365760" y="4983480"/>
            <a:ext cx="11430000" cy="41148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029200"/>
            <a:ext cx="11155680" cy="347472"/>
          </a:xfrm>
          <a:prstGeom prst="rect">
            <a:avLst/>
          </a:prstGeom>
          <a:noFill/>
        </p:spPr>
        <p:txBody>
          <a:bodyPr wrap="square">
            <a:spAutoFit/>
          </a:bodyPr>
          <a:lstStyle/>
          <a:p>
            <a:pPr algn="l"/>
            <a:r>
              <a:rPr sz="1200" b="0">
                <a:solidFill>
                  <a:srgbClr val="34D399"/>
                </a:solidFill>
              </a:rPr>
              <a:t>Browser → nginx:443 → middleware:8080 → [ChromaDB + Redis + NVIDIA NIM] → SSE stream back</a:t>
            </a:r>
          </a:p>
        </p:txBody>
      </p:sp>
      <p:sp>
        <p:nvSpPr>
          <p:cNvPr id="33" name="TextBox 32"/>
          <p:cNvSpPr txBox="1"/>
          <p:nvPr/>
        </p:nvSpPr>
        <p:spPr>
          <a:xfrm>
            <a:off x="365760" y="5532120"/>
            <a:ext cx="11430000" cy="365760"/>
          </a:xfrm>
          <a:prstGeom prst="rect">
            <a:avLst/>
          </a:prstGeom>
          <a:noFill/>
        </p:spPr>
        <p:txBody>
          <a:bodyPr wrap="square">
            <a:spAutoFit/>
          </a:bodyPr>
          <a:lstStyle/>
          <a:p>
            <a:pPr algn="l"/>
            <a:r>
              <a:rPr sz="1200" b="0">
                <a:solidFill>
                  <a:srgbClr val="FBBF24"/>
                </a:solidFill>
              </a:rPr>
              <a:t>Security: Bearer token auth  |  Rate limiting  |  50K char input cap  |  URL scheme whitelist  |  HTTPS/TLS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04  Pipeline Deep-Dive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6-stage claim verification flow</a:t>
            </a:r>
          </a:p>
        </p:txBody>
      </p:sp>
      <p:sp>
        <p:nvSpPr>
          <p:cNvPr id="6" name="TextBox 5"/>
          <p:cNvSpPr txBox="1"/>
          <p:nvPr/>
        </p:nvSpPr>
        <p:spPr>
          <a:xfrm>
            <a:off x="365760" y="1371600"/>
            <a:ext cx="3657600" cy="292608"/>
          </a:xfrm>
          <a:prstGeom prst="rect">
            <a:avLst/>
          </a:prstGeom>
          <a:noFill/>
        </p:spPr>
        <p:txBody>
          <a:bodyPr wrap="square">
            <a:spAutoFit/>
          </a:bodyPr>
          <a:lstStyle/>
          <a:p>
            <a:pPr algn="l"/>
            <a:r>
              <a:rPr sz="1200" b="1">
                <a:solidFill>
                  <a:srgbClr val="38BDF8"/>
                </a:solidFill>
              </a:rPr>
              <a:t>Stage 1 — Claimify Extraction</a:t>
            </a:r>
          </a:p>
        </p:txBody>
      </p:sp>
      <p:sp>
        <p:nvSpPr>
          <p:cNvPr id="7" name="TextBox 6"/>
          <p:cNvSpPr txBox="1"/>
          <p:nvPr/>
        </p:nvSpPr>
        <p:spPr>
          <a:xfrm>
            <a:off x="365760" y="1645920"/>
            <a:ext cx="11430000" cy="384048"/>
          </a:xfrm>
          <a:prstGeom prst="rect">
            <a:avLst/>
          </a:prstGeom>
          <a:noFill/>
        </p:spPr>
        <p:txBody>
          <a:bodyPr wrap="square">
            <a:spAutoFit/>
          </a:bodyPr>
          <a:lstStyle/>
          <a:p>
            <a:pPr algn="l"/>
            <a:r>
              <a:rPr sz="1100" b="0">
                <a:solidFill>
                  <a:srgbClr val="CBD5E1"/>
                </a:solidFill>
              </a:rPr>
              <a:t>spaCy sentence splitting → selection (factual vs opinion) → decomposition into atomic claims → LLM produces structured JSON: text, normalized form, claim_type, stakes, category.</a:t>
            </a:r>
          </a:p>
        </p:txBody>
      </p:sp>
      <p:sp>
        <p:nvSpPr>
          <p:cNvPr id="8" name="TextBox 7"/>
          <p:cNvSpPr txBox="1"/>
          <p:nvPr/>
        </p:nvSpPr>
        <p:spPr>
          <a:xfrm>
            <a:off x="365760" y="2130552"/>
            <a:ext cx="3657600" cy="292608"/>
          </a:xfrm>
          <a:prstGeom prst="rect">
            <a:avLst/>
          </a:prstGeom>
          <a:noFill/>
        </p:spPr>
        <p:txBody>
          <a:bodyPr wrap="square">
            <a:spAutoFit/>
          </a:bodyPr>
          <a:lstStyle/>
          <a:p>
            <a:pPr algn="l"/>
            <a:r>
              <a:rPr sz="1200" b="1">
                <a:solidFill>
                  <a:srgbClr val="FBBF24"/>
                </a:solidFill>
              </a:rPr>
              <a:t>Stage 2 — Hybrid Retrieval (per claim)</a:t>
            </a:r>
          </a:p>
        </p:txBody>
      </p:sp>
      <p:sp>
        <p:nvSpPr>
          <p:cNvPr id="9" name="TextBox 8"/>
          <p:cNvSpPr txBox="1"/>
          <p:nvPr/>
        </p:nvSpPr>
        <p:spPr>
          <a:xfrm>
            <a:off x="365760" y="2404872"/>
            <a:ext cx="11430000" cy="384048"/>
          </a:xfrm>
          <a:prstGeom prst="rect">
            <a:avLst/>
          </a:prstGeom>
          <a:noFill/>
        </p:spPr>
        <p:txBody>
          <a:bodyPr wrap="square">
            <a:spAutoFit/>
          </a:bodyPr>
          <a:lstStyle/>
          <a:p>
            <a:pPr algn="l"/>
            <a:r>
              <a:rPr sz="1100" b="0">
                <a:solidFill>
                  <a:srgbClr val="CBD5E1"/>
                </a:solidFill>
              </a:rPr>
              <a:t>HyDE: generate a hypothetical doc to bridge phrasing gaps.  Multi-query: expand to N variants for recall.  BM25 (35%) + Vector (65%) fusion → top-10 candidates → CrossEncoder reranks → top-5 to LLM.</a:t>
            </a:r>
          </a:p>
        </p:txBody>
      </p:sp>
      <p:sp>
        <p:nvSpPr>
          <p:cNvPr id="10" name="TextBox 9"/>
          <p:cNvSpPr txBox="1"/>
          <p:nvPr/>
        </p:nvSpPr>
        <p:spPr>
          <a:xfrm>
            <a:off x="365760" y="2889504"/>
            <a:ext cx="3657600" cy="292608"/>
          </a:xfrm>
          <a:prstGeom prst="rect">
            <a:avLst/>
          </a:prstGeom>
          <a:noFill/>
        </p:spPr>
        <p:txBody>
          <a:bodyPr wrap="square">
            <a:spAutoFit/>
          </a:bodyPr>
          <a:lstStyle/>
          <a:p>
            <a:pPr algn="l"/>
            <a:r>
              <a:rPr sz="1200" b="1">
                <a:solidFill>
                  <a:srgbClr val="38BDF8"/>
                </a:solidFill>
              </a:rPr>
              <a:t>Stage 3 — LLM Verification</a:t>
            </a:r>
          </a:p>
        </p:txBody>
      </p:sp>
      <p:sp>
        <p:nvSpPr>
          <p:cNvPr id="11" name="TextBox 10"/>
          <p:cNvSpPr txBox="1"/>
          <p:nvPr/>
        </p:nvSpPr>
        <p:spPr>
          <a:xfrm>
            <a:off x="365760" y="3163824"/>
            <a:ext cx="11430000" cy="384048"/>
          </a:xfrm>
          <a:prstGeom prst="rect">
            <a:avLst/>
          </a:prstGeom>
          <a:noFill/>
        </p:spPr>
        <p:txBody>
          <a:bodyPr wrap="square">
            <a:spAutoFit/>
          </a:bodyPr>
          <a:lstStyle/>
          <a:p>
            <a:pPr algn="l"/>
            <a:r>
              <a:rPr sz="1100" b="0">
                <a:solidFill>
                  <a:srgbClr val="CBD5E1"/>
                </a:solidFill>
              </a:rPr>
              <a:t>llama-3.3-70b reads claim + top-5 evidence chunks.  Outputs: status (verified / contradicted / partially_supported / unverifiable), confidence 0-1, key_evidence (verbatim quote), reasoning.</a:t>
            </a:r>
          </a:p>
        </p:txBody>
      </p:sp>
      <p:sp>
        <p:nvSpPr>
          <p:cNvPr id="12" name="TextBox 11"/>
          <p:cNvSpPr txBox="1"/>
          <p:nvPr/>
        </p:nvSpPr>
        <p:spPr>
          <a:xfrm>
            <a:off x="365760" y="3648456"/>
            <a:ext cx="3657600" cy="292608"/>
          </a:xfrm>
          <a:prstGeom prst="rect">
            <a:avLst/>
          </a:prstGeom>
          <a:noFill/>
        </p:spPr>
        <p:txBody>
          <a:bodyPr wrap="square">
            <a:spAutoFit/>
          </a:bodyPr>
          <a:lstStyle/>
          <a:p>
            <a:pPr algn="l"/>
            <a:r>
              <a:rPr sz="1200" b="1">
                <a:solidFill>
                  <a:srgbClr val="FBBF24"/>
                </a:solidFill>
              </a:rPr>
              <a:t>Stage 4 — Domain-Aware Decision</a:t>
            </a:r>
          </a:p>
        </p:txBody>
      </p:sp>
      <p:sp>
        <p:nvSpPr>
          <p:cNvPr id="13" name="TextBox 12"/>
          <p:cNvSpPr txBox="1"/>
          <p:nvPr/>
        </p:nvSpPr>
        <p:spPr>
          <a:xfrm>
            <a:off x="365760" y="3922776"/>
            <a:ext cx="11430000" cy="384048"/>
          </a:xfrm>
          <a:prstGeom prst="rect">
            <a:avLst/>
          </a:prstGeom>
          <a:noFill/>
        </p:spPr>
        <p:txBody>
          <a:bodyPr wrap="square">
            <a:spAutoFit/>
          </a:bodyPr>
          <a:lstStyle/>
          <a:p>
            <a:pPr algn="l"/>
            <a:r>
              <a:rPr sz="1100" b="0">
                <a:solidFill>
                  <a:srgbClr val="CBD5E1"/>
                </a:solidFill>
              </a:rPr>
              <a:t>MEDICAL block&lt;0.82  FLAG&lt;0.88  |  LEGAL block&lt;0.76  FLAG&lt;0.82  |  FINANCIAL block&lt;0.70  FLAG&lt;0.76  |  GENERAL block&lt;0.40  FLAG&lt;0.60  → action: PASS / ANNOTATE / FLAG / BLOCK</a:t>
            </a:r>
          </a:p>
        </p:txBody>
      </p:sp>
      <p:sp>
        <p:nvSpPr>
          <p:cNvPr id="14" name="TextBox 13"/>
          <p:cNvSpPr txBox="1"/>
          <p:nvPr/>
        </p:nvSpPr>
        <p:spPr>
          <a:xfrm>
            <a:off x="365760" y="4407408"/>
            <a:ext cx="3657600" cy="292608"/>
          </a:xfrm>
          <a:prstGeom prst="rect">
            <a:avLst/>
          </a:prstGeom>
          <a:noFill/>
        </p:spPr>
        <p:txBody>
          <a:bodyPr wrap="square">
            <a:spAutoFit/>
          </a:bodyPr>
          <a:lstStyle/>
          <a:p>
            <a:pPr algn="l"/>
            <a:r>
              <a:rPr sz="1200" b="1">
                <a:solidFill>
                  <a:srgbClr val="38BDF8"/>
                </a:solidFill>
              </a:rPr>
              <a:t>Stage 5 — Self-Correction</a:t>
            </a:r>
          </a:p>
        </p:txBody>
      </p:sp>
      <p:sp>
        <p:nvSpPr>
          <p:cNvPr id="15" name="TextBox 14"/>
          <p:cNvSpPr txBox="1"/>
          <p:nvPr/>
        </p:nvSpPr>
        <p:spPr>
          <a:xfrm>
            <a:off x="365760" y="4681728"/>
            <a:ext cx="11430000" cy="384048"/>
          </a:xfrm>
          <a:prstGeom prst="rect">
            <a:avLst/>
          </a:prstGeom>
          <a:noFill/>
        </p:spPr>
        <p:txBody>
          <a:bodyPr wrap="square">
            <a:spAutoFit/>
          </a:bodyPr>
          <a:lstStyle/>
          <a:p>
            <a:pPr algn="l"/>
            <a:r>
              <a:rPr sz="1100" b="0">
                <a:solidFill>
                  <a:srgbClr val="CBD5E1"/>
                </a:solidFill>
              </a:rPr>
              <a:t>If any claim was blocked/flagged: a second LLM call rewrites only wrong portions using verified evidence. Arrives as a separate SSE 'corrected' event — does not delay main result.</a:t>
            </a:r>
          </a:p>
        </p:txBody>
      </p:sp>
      <p:sp>
        <p:nvSpPr>
          <p:cNvPr id="16" name="TextBox 15"/>
          <p:cNvSpPr txBox="1"/>
          <p:nvPr/>
        </p:nvSpPr>
        <p:spPr>
          <a:xfrm>
            <a:off x="365760" y="5166360"/>
            <a:ext cx="3657600" cy="292608"/>
          </a:xfrm>
          <a:prstGeom prst="rect">
            <a:avLst/>
          </a:prstGeom>
          <a:noFill/>
        </p:spPr>
        <p:txBody>
          <a:bodyPr wrap="square">
            <a:spAutoFit/>
          </a:bodyPr>
          <a:lstStyle/>
          <a:p>
            <a:pPr algn="l"/>
            <a:r>
              <a:rPr sz="1200" b="1">
                <a:solidFill>
                  <a:srgbClr val="FBBF24"/>
                </a:solidFill>
              </a:rPr>
              <a:t>Stage 6 — MPC Refinement (optional)</a:t>
            </a:r>
          </a:p>
        </p:txBody>
      </p:sp>
      <p:sp>
        <p:nvSpPr>
          <p:cNvPr id="17" name="TextBox 16"/>
          <p:cNvSpPr txBox="1"/>
          <p:nvPr/>
        </p:nvSpPr>
        <p:spPr>
          <a:xfrm>
            <a:off x="365760" y="5440680"/>
            <a:ext cx="11430000" cy="384048"/>
          </a:xfrm>
          <a:prstGeom prst="rect">
            <a:avLst/>
          </a:prstGeom>
          <a:noFill/>
        </p:spPr>
        <p:txBody>
          <a:bodyPr wrap="square">
            <a:spAutoFit/>
          </a:bodyPr>
          <a:lstStyle/>
          <a:p>
            <a:pPr algn="l"/>
            <a:r>
              <a:rPr sz="1100" b="0">
                <a:solidFill>
                  <a:srgbClr val="CBD5E1"/>
                </a:solidFill>
              </a:rPr>
              <a:t>Receding-horizon loop: 3 candidate phrasings per sentence → scored against KB → lowest hallucination cost selected. Off by default (adds ~3× LLM calls).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05  Domain-Aware Safety Thresholds</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Different stakes require different confidence requirements</a:t>
            </a:r>
          </a:p>
        </p:txBody>
      </p:sp>
      <p:sp>
        <p:nvSpPr>
          <p:cNvPr id="6" name="TextBox 5"/>
          <p:cNvSpPr txBox="1"/>
          <p:nvPr/>
        </p:nvSpPr>
        <p:spPr>
          <a:xfrm>
            <a:off x="365760" y="1371600"/>
            <a:ext cx="11430000" cy="548640"/>
          </a:xfrm>
          <a:prstGeom prst="rect">
            <a:avLst/>
          </a:prstGeom>
          <a:noFill/>
        </p:spPr>
        <p:txBody>
          <a:bodyPr wrap="square">
            <a:spAutoFit/>
          </a:bodyPr>
          <a:lstStyle/>
          <a:p>
            <a:pPr algn="l"/>
            <a:r>
              <a:rPr sz="1500" b="0">
                <a:solidFill>
                  <a:srgbClr val="CBD5E1"/>
                </a:solidFill>
              </a:rPr>
              <a:t>Claims are automatically classified by the LLM into 4 categories. Each category has its own block and flag threshold — medical claims require far higher confidence than general facts.</a:t>
            </a:r>
          </a:p>
        </p:txBody>
      </p:sp>
      <p:sp>
        <p:nvSpPr>
          <p:cNvPr id="7" name="Rectangle 6"/>
          <p:cNvSpPr/>
          <p:nvPr/>
        </p:nvSpPr>
        <p:spPr>
          <a:xfrm>
            <a:off x="365760" y="2103120"/>
            <a:ext cx="2743200" cy="1463040"/>
          </a:xfrm>
          <a:prstGeom prst="rect">
            <a:avLst/>
          </a:prstGeom>
          <a:solidFill>
            <a:srgbClr val="1E293B"/>
          </a:solidFill>
          <a:ln w="254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2176272"/>
            <a:ext cx="2743200" cy="347472"/>
          </a:xfrm>
          <a:prstGeom prst="rect">
            <a:avLst/>
          </a:prstGeom>
          <a:noFill/>
        </p:spPr>
        <p:txBody>
          <a:bodyPr wrap="square">
            <a:spAutoFit/>
          </a:bodyPr>
          <a:lstStyle/>
          <a:p>
            <a:pPr algn="ctr"/>
            <a:r>
              <a:rPr sz="1800" b="1">
                <a:solidFill>
                  <a:srgbClr val="F87171"/>
                </a:solidFill>
              </a:rPr>
              <a:t>MEDICAL</a:t>
            </a:r>
          </a:p>
        </p:txBody>
      </p:sp>
      <p:sp>
        <p:nvSpPr>
          <p:cNvPr id="9" name="TextBox 8"/>
          <p:cNvSpPr txBox="1"/>
          <p:nvPr/>
        </p:nvSpPr>
        <p:spPr>
          <a:xfrm>
            <a:off x="365760" y="2560320"/>
            <a:ext cx="2743200" cy="274320"/>
          </a:xfrm>
          <a:prstGeom prst="rect">
            <a:avLst/>
          </a:prstGeom>
          <a:noFill/>
        </p:spPr>
        <p:txBody>
          <a:bodyPr wrap="square">
            <a:spAutoFit/>
          </a:bodyPr>
          <a:lstStyle/>
          <a:p>
            <a:pPr algn="ctr"/>
            <a:r>
              <a:rPr sz="1300" b="1">
                <a:solidFill>
                  <a:srgbClr val="FFFFFF"/>
                </a:solidFill>
              </a:rPr>
              <a:t>Block &lt; 0.82  |  Flag &lt; 0.88</a:t>
            </a:r>
          </a:p>
        </p:txBody>
      </p:sp>
      <p:sp>
        <p:nvSpPr>
          <p:cNvPr id="10" name="TextBox 9"/>
          <p:cNvSpPr txBox="1"/>
          <p:nvPr/>
        </p:nvSpPr>
        <p:spPr>
          <a:xfrm>
            <a:off x="457200" y="2880360"/>
            <a:ext cx="2560320" cy="594360"/>
          </a:xfrm>
          <a:prstGeom prst="rect">
            <a:avLst/>
          </a:prstGeom>
          <a:noFill/>
        </p:spPr>
        <p:txBody>
          <a:bodyPr wrap="square">
            <a:spAutoFit/>
          </a:bodyPr>
          <a:lstStyle/>
          <a:p>
            <a:pPr algn="ctr"/>
            <a:r>
              <a:rPr sz="1000" b="0">
                <a:solidFill>
                  <a:srgbClr val="94A3B8"/>
                </a:solidFill>
              </a:rPr>
              <a:t>Drug dosages · diagnoses · treatment · clinical facts</a:t>
            </a:r>
          </a:p>
        </p:txBody>
      </p:sp>
      <p:sp>
        <p:nvSpPr>
          <p:cNvPr id="11" name="Rectangle 10"/>
          <p:cNvSpPr/>
          <p:nvPr/>
        </p:nvSpPr>
        <p:spPr>
          <a:xfrm>
            <a:off x="3429000" y="2103120"/>
            <a:ext cx="2743200" cy="1463040"/>
          </a:xfrm>
          <a:prstGeom prst="rect">
            <a:avLst/>
          </a:prstGeom>
          <a:solidFill>
            <a:srgbClr val="1E293B"/>
          </a:solidFill>
          <a:ln w="254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2176272"/>
            <a:ext cx="2743200" cy="347472"/>
          </a:xfrm>
          <a:prstGeom prst="rect">
            <a:avLst/>
          </a:prstGeom>
          <a:noFill/>
        </p:spPr>
        <p:txBody>
          <a:bodyPr wrap="square">
            <a:spAutoFit/>
          </a:bodyPr>
          <a:lstStyle/>
          <a:p>
            <a:pPr algn="ctr"/>
            <a:r>
              <a:rPr sz="1800" b="1">
                <a:solidFill>
                  <a:srgbClr val="FBBF24"/>
                </a:solidFill>
              </a:rPr>
              <a:t>LEGAL</a:t>
            </a:r>
          </a:p>
        </p:txBody>
      </p:sp>
      <p:sp>
        <p:nvSpPr>
          <p:cNvPr id="13" name="TextBox 12"/>
          <p:cNvSpPr txBox="1"/>
          <p:nvPr/>
        </p:nvSpPr>
        <p:spPr>
          <a:xfrm>
            <a:off x="3429000" y="2560320"/>
            <a:ext cx="2743200" cy="274320"/>
          </a:xfrm>
          <a:prstGeom prst="rect">
            <a:avLst/>
          </a:prstGeom>
          <a:noFill/>
        </p:spPr>
        <p:txBody>
          <a:bodyPr wrap="square">
            <a:spAutoFit/>
          </a:bodyPr>
          <a:lstStyle/>
          <a:p>
            <a:pPr algn="ctr"/>
            <a:r>
              <a:rPr sz="1300" b="1">
                <a:solidFill>
                  <a:srgbClr val="FFFFFF"/>
                </a:solidFill>
              </a:rPr>
              <a:t>Block &lt; 0.76  |  Flag &lt; 0.82</a:t>
            </a:r>
          </a:p>
        </p:txBody>
      </p:sp>
      <p:sp>
        <p:nvSpPr>
          <p:cNvPr id="14" name="TextBox 13"/>
          <p:cNvSpPr txBox="1"/>
          <p:nvPr/>
        </p:nvSpPr>
        <p:spPr>
          <a:xfrm>
            <a:off x="3520440" y="2880360"/>
            <a:ext cx="2560320" cy="594360"/>
          </a:xfrm>
          <a:prstGeom prst="rect">
            <a:avLst/>
          </a:prstGeom>
          <a:noFill/>
        </p:spPr>
        <p:txBody>
          <a:bodyPr wrap="square">
            <a:spAutoFit/>
          </a:bodyPr>
          <a:lstStyle/>
          <a:p>
            <a:pPr algn="ctr"/>
            <a:r>
              <a:rPr sz="1000" b="0">
                <a:solidFill>
                  <a:srgbClr val="94A3B8"/>
                </a:solidFill>
              </a:rPr>
              <a:t>Regulations · court rulings · fines · dates of law</a:t>
            </a:r>
          </a:p>
        </p:txBody>
      </p:sp>
      <p:sp>
        <p:nvSpPr>
          <p:cNvPr id="15" name="Rectangle 14"/>
          <p:cNvSpPr/>
          <p:nvPr/>
        </p:nvSpPr>
        <p:spPr>
          <a:xfrm>
            <a:off x="365760" y="3840480"/>
            <a:ext cx="2743200" cy="1463040"/>
          </a:xfrm>
          <a:prstGeom prst="rect">
            <a:avLst/>
          </a:prstGeom>
          <a:solidFill>
            <a:srgbClr val="1E293B"/>
          </a:solidFill>
          <a:ln w="254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3913632"/>
            <a:ext cx="2743200" cy="347472"/>
          </a:xfrm>
          <a:prstGeom prst="rect">
            <a:avLst/>
          </a:prstGeom>
          <a:noFill/>
        </p:spPr>
        <p:txBody>
          <a:bodyPr wrap="square">
            <a:spAutoFit/>
          </a:bodyPr>
          <a:lstStyle/>
          <a:p>
            <a:pPr algn="ctr"/>
            <a:r>
              <a:rPr sz="1800" b="1">
                <a:solidFill>
                  <a:srgbClr val="FBBF24"/>
                </a:solidFill>
              </a:rPr>
              <a:t>FINANCIAL</a:t>
            </a:r>
          </a:p>
        </p:txBody>
      </p:sp>
      <p:sp>
        <p:nvSpPr>
          <p:cNvPr id="17" name="TextBox 16"/>
          <p:cNvSpPr txBox="1"/>
          <p:nvPr/>
        </p:nvSpPr>
        <p:spPr>
          <a:xfrm>
            <a:off x="365760" y="4297680"/>
            <a:ext cx="2743200" cy="274320"/>
          </a:xfrm>
          <a:prstGeom prst="rect">
            <a:avLst/>
          </a:prstGeom>
          <a:noFill/>
        </p:spPr>
        <p:txBody>
          <a:bodyPr wrap="square">
            <a:spAutoFit/>
          </a:bodyPr>
          <a:lstStyle/>
          <a:p>
            <a:pPr algn="ctr"/>
            <a:r>
              <a:rPr sz="1300" b="1">
                <a:solidFill>
                  <a:srgbClr val="FFFFFF"/>
                </a:solidFill>
              </a:rPr>
              <a:t>Block &lt; 0.70  |  Flag &lt; 0.76</a:t>
            </a:r>
          </a:p>
        </p:txBody>
      </p:sp>
      <p:sp>
        <p:nvSpPr>
          <p:cNvPr id="18" name="TextBox 17"/>
          <p:cNvSpPr txBox="1"/>
          <p:nvPr/>
        </p:nvSpPr>
        <p:spPr>
          <a:xfrm>
            <a:off x="457200" y="4617720"/>
            <a:ext cx="2560320" cy="594360"/>
          </a:xfrm>
          <a:prstGeom prst="rect">
            <a:avLst/>
          </a:prstGeom>
          <a:noFill/>
        </p:spPr>
        <p:txBody>
          <a:bodyPr wrap="square">
            <a:spAutoFit/>
          </a:bodyPr>
          <a:lstStyle/>
          <a:p>
            <a:pPr algn="ctr"/>
            <a:r>
              <a:rPr sz="1000" b="0">
                <a:solidFill>
                  <a:srgbClr val="94A3B8"/>
                </a:solidFill>
              </a:rPr>
              <a:t>GDP · interest rates · market caps · tax rates</a:t>
            </a:r>
          </a:p>
        </p:txBody>
      </p:sp>
      <p:sp>
        <p:nvSpPr>
          <p:cNvPr id="19" name="Rectangle 18"/>
          <p:cNvSpPr/>
          <p:nvPr/>
        </p:nvSpPr>
        <p:spPr>
          <a:xfrm>
            <a:off x="3429000" y="3840480"/>
            <a:ext cx="2743200" cy="1463040"/>
          </a:xfrm>
          <a:prstGeom prst="rect">
            <a:avLst/>
          </a:prstGeom>
          <a:solidFill>
            <a:srgbClr val="1E293B"/>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29000" y="3913632"/>
            <a:ext cx="2743200" cy="347472"/>
          </a:xfrm>
          <a:prstGeom prst="rect">
            <a:avLst/>
          </a:prstGeom>
          <a:noFill/>
        </p:spPr>
        <p:txBody>
          <a:bodyPr wrap="square">
            <a:spAutoFit/>
          </a:bodyPr>
          <a:lstStyle/>
          <a:p>
            <a:pPr algn="ctr"/>
            <a:r>
              <a:rPr sz="1800" b="1">
                <a:solidFill>
                  <a:srgbClr val="34D399"/>
                </a:solidFill>
              </a:rPr>
              <a:t>GENERAL</a:t>
            </a:r>
          </a:p>
        </p:txBody>
      </p:sp>
      <p:sp>
        <p:nvSpPr>
          <p:cNvPr id="21" name="TextBox 20"/>
          <p:cNvSpPr txBox="1"/>
          <p:nvPr/>
        </p:nvSpPr>
        <p:spPr>
          <a:xfrm>
            <a:off x="3429000" y="4297680"/>
            <a:ext cx="2743200" cy="274320"/>
          </a:xfrm>
          <a:prstGeom prst="rect">
            <a:avLst/>
          </a:prstGeom>
          <a:noFill/>
        </p:spPr>
        <p:txBody>
          <a:bodyPr wrap="square">
            <a:spAutoFit/>
          </a:bodyPr>
          <a:lstStyle/>
          <a:p>
            <a:pPr algn="ctr"/>
            <a:r>
              <a:rPr sz="1300" b="1">
                <a:solidFill>
                  <a:srgbClr val="FFFFFF"/>
                </a:solidFill>
              </a:rPr>
              <a:t>Block &lt; 0.40  |  Flag &lt; 0.60</a:t>
            </a:r>
          </a:p>
        </p:txBody>
      </p:sp>
      <p:sp>
        <p:nvSpPr>
          <p:cNvPr id="22" name="TextBox 21"/>
          <p:cNvSpPr txBox="1"/>
          <p:nvPr/>
        </p:nvSpPr>
        <p:spPr>
          <a:xfrm>
            <a:off x="3520440" y="4617720"/>
            <a:ext cx="2560320" cy="594360"/>
          </a:xfrm>
          <a:prstGeom prst="rect">
            <a:avLst/>
          </a:prstGeom>
          <a:noFill/>
        </p:spPr>
        <p:txBody>
          <a:bodyPr wrap="square">
            <a:spAutoFit/>
          </a:bodyPr>
          <a:lstStyle/>
          <a:p>
            <a:pPr algn="ctr"/>
            <a:r>
              <a:rPr sz="1000" b="0">
                <a:solidFill>
                  <a:srgbClr val="94A3B8"/>
                </a:solidFill>
              </a:rPr>
              <a:t>History · geography · science · technology</a:t>
            </a:r>
          </a:p>
        </p:txBody>
      </p:sp>
      <p:sp>
        <p:nvSpPr>
          <p:cNvPr id="23" name="TextBox 22"/>
          <p:cNvSpPr txBox="1"/>
          <p:nvPr/>
        </p:nvSpPr>
        <p:spPr>
          <a:xfrm>
            <a:off x="6217920" y="2103120"/>
            <a:ext cx="5486400" cy="320040"/>
          </a:xfrm>
          <a:prstGeom prst="rect">
            <a:avLst/>
          </a:prstGeom>
          <a:noFill/>
        </p:spPr>
        <p:txBody>
          <a:bodyPr wrap="square">
            <a:spAutoFit/>
          </a:bodyPr>
          <a:lstStyle/>
          <a:p>
            <a:pPr algn="l"/>
            <a:r>
              <a:rPr sz="1400" b="1">
                <a:solidFill>
                  <a:srgbClr val="38BDF8"/>
                </a:solidFill>
              </a:rPr>
              <a:t>Live Example:</a:t>
            </a:r>
          </a:p>
        </p:txBody>
      </p:sp>
      <p:sp>
        <p:nvSpPr>
          <p:cNvPr id="24" name="Rectangle 23"/>
          <p:cNvSpPr/>
          <p:nvPr/>
        </p:nvSpPr>
        <p:spPr>
          <a:xfrm>
            <a:off x="6217920" y="2468880"/>
            <a:ext cx="5669280" cy="914400"/>
          </a:xfrm>
          <a:prstGeom prst="rect">
            <a:avLst/>
          </a:prstGeom>
          <a:solidFill>
            <a:srgbClr val="1E293B"/>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2514600"/>
            <a:ext cx="5486400" cy="548640"/>
          </a:xfrm>
          <a:prstGeom prst="rect">
            <a:avLst/>
          </a:prstGeom>
          <a:noFill/>
        </p:spPr>
        <p:txBody>
          <a:bodyPr wrap="square">
            <a:spAutoFit/>
          </a:bodyPr>
          <a:lstStyle/>
          <a:p>
            <a:pPr algn="l"/>
            <a:r>
              <a:rPr sz="1300" b="0">
                <a:solidFill>
                  <a:srgbClr val="FFFFFF"/>
                </a:solidFill>
              </a:rPr>
              <a:t>"Ibuprofen is safe in all trimesters of pregnancy."</a:t>
            </a:r>
          </a:p>
        </p:txBody>
      </p:sp>
      <p:sp>
        <p:nvSpPr>
          <p:cNvPr id="26" name="TextBox 25"/>
          <p:cNvSpPr txBox="1"/>
          <p:nvPr/>
        </p:nvSpPr>
        <p:spPr>
          <a:xfrm>
            <a:off x="6217920" y="3520440"/>
            <a:ext cx="5669280" cy="365760"/>
          </a:xfrm>
          <a:prstGeom prst="rect">
            <a:avLst/>
          </a:prstGeom>
          <a:noFill/>
        </p:spPr>
        <p:txBody>
          <a:bodyPr wrap="square">
            <a:spAutoFit/>
          </a:bodyPr>
          <a:lstStyle/>
          <a:p>
            <a:pPr algn="l"/>
            <a:r>
              <a:rPr sz="1200" b="0">
                <a:solidFill>
                  <a:srgbClr val="F87171"/>
                </a:solidFill>
              </a:rPr>
              <a:t>→  MEDICAL claim  →  needs confidence ≥ 0.82 to pass  →  BLOCKED (confidence 0.15)</a:t>
            </a:r>
          </a:p>
        </p:txBody>
      </p:sp>
      <p:sp>
        <p:nvSpPr>
          <p:cNvPr id="27" name="TextBox 26"/>
          <p:cNvSpPr txBox="1"/>
          <p:nvPr/>
        </p:nvSpPr>
        <p:spPr>
          <a:xfrm>
            <a:off x="6217920" y="3931920"/>
            <a:ext cx="5669280" cy="365760"/>
          </a:xfrm>
          <a:prstGeom prst="rect">
            <a:avLst/>
          </a:prstGeom>
          <a:noFill/>
        </p:spPr>
        <p:txBody>
          <a:bodyPr wrap="square">
            <a:spAutoFit/>
          </a:bodyPr>
          <a:lstStyle/>
          <a:p>
            <a:pPr algn="l"/>
            <a:r>
              <a:rPr sz="1200" b="0">
                <a:solidFill>
                  <a:srgbClr val="34D399"/>
                </a:solidFill>
              </a:rPr>
              <a:t>→  Self-Corrector rewrites using WHO/FDA evidence from KB</a:t>
            </a:r>
          </a:p>
        </p:txBody>
      </p:sp>
      <p:sp>
        <p:nvSpPr>
          <p:cNvPr id="28" name="TextBox 27"/>
          <p:cNvSpPr txBox="1"/>
          <p:nvPr/>
        </p:nvSpPr>
        <p:spPr>
          <a:xfrm>
            <a:off x="6217920" y="4343400"/>
            <a:ext cx="5669280" cy="365760"/>
          </a:xfrm>
          <a:prstGeom prst="rect">
            <a:avLst/>
          </a:prstGeom>
          <a:noFill/>
        </p:spPr>
        <p:txBody>
          <a:bodyPr wrap="square">
            <a:spAutoFit/>
          </a:bodyPr>
          <a:lstStyle/>
          <a:p>
            <a:pPr algn="l"/>
            <a:r>
              <a:rPr sz="1200" b="0">
                <a:solidFill>
                  <a:srgbClr val="FBBF24"/>
                </a:solidFill>
              </a:rPr>
              <a:t>→  User receives corrected, safe text — not a block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06  Knowledge Base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7,705+ authoritative chunks across 6 domains</a:t>
            </a:r>
          </a:p>
        </p:txBody>
      </p:sp>
      <p:sp>
        <p:nvSpPr>
          <p:cNvPr id="6" name="Rectangle 5"/>
          <p:cNvSpPr/>
          <p:nvPr/>
        </p:nvSpPr>
        <p:spPr>
          <a:xfrm>
            <a:off x="365760" y="1417320"/>
            <a:ext cx="256032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926080" y="1417320"/>
            <a:ext cx="905256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72184"/>
            <a:ext cx="2423160" cy="365760"/>
          </a:xfrm>
          <a:prstGeom prst="rect">
            <a:avLst/>
          </a:prstGeom>
          <a:noFill/>
        </p:spPr>
        <p:txBody>
          <a:bodyPr wrap="square">
            <a:spAutoFit/>
          </a:bodyPr>
          <a:lstStyle/>
          <a:p>
            <a:pPr algn="l"/>
            <a:r>
              <a:rPr sz="1200" b="1">
                <a:solidFill>
                  <a:srgbClr val="38BDF8"/>
                </a:solidFill>
              </a:rPr>
              <a:t>Wikipedia (15+)</a:t>
            </a:r>
          </a:p>
        </p:txBody>
      </p:sp>
      <p:sp>
        <p:nvSpPr>
          <p:cNvPr id="9" name="TextBox 8"/>
          <p:cNvSpPr txBox="1"/>
          <p:nvPr/>
        </p:nvSpPr>
        <p:spPr>
          <a:xfrm>
            <a:off x="3017520" y="1472184"/>
            <a:ext cx="8915400" cy="365760"/>
          </a:xfrm>
          <a:prstGeom prst="rect">
            <a:avLst/>
          </a:prstGeom>
          <a:noFill/>
        </p:spPr>
        <p:txBody>
          <a:bodyPr wrap="square">
            <a:spAutoFit/>
          </a:bodyPr>
          <a:lstStyle/>
          <a:p>
            <a:pPr algn="l"/>
            <a:r>
              <a:rPr sz="1200" b="0">
                <a:solidFill>
                  <a:srgbClr val="CBD5E1"/>
                </a:solidFill>
              </a:rPr>
              <a:t>Einstein, DNA, Climate Change, Vaccination, WWII, AI, Internet, COVID-19, Diabetes, Inflation, US Constitution, Python, Stock Market, French Revolution, Quantum Mechanics, and more.</a:t>
            </a:r>
          </a:p>
        </p:txBody>
      </p:sp>
      <p:sp>
        <p:nvSpPr>
          <p:cNvPr id="10" name="Rectangle 9"/>
          <p:cNvSpPr/>
          <p:nvPr/>
        </p:nvSpPr>
        <p:spPr>
          <a:xfrm>
            <a:off x="365760" y="1874520"/>
            <a:ext cx="256032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0" y="1874520"/>
            <a:ext cx="905256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29384"/>
            <a:ext cx="2423160" cy="365760"/>
          </a:xfrm>
          <a:prstGeom prst="rect">
            <a:avLst/>
          </a:prstGeom>
          <a:noFill/>
        </p:spPr>
        <p:txBody>
          <a:bodyPr wrap="square">
            <a:spAutoFit/>
          </a:bodyPr>
          <a:lstStyle/>
          <a:p>
            <a:pPr algn="l"/>
            <a:r>
              <a:rPr sz="1200" b="1">
                <a:solidFill>
                  <a:srgbClr val="38BDF8"/>
                </a:solidFill>
              </a:rPr>
              <a:t>Medical facts</a:t>
            </a:r>
          </a:p>
        </p:txBody>
      </p:sp>
      <p:sp>
        <p:nvSpPr>
          <p:cNvPr id="13" name="TextBox 12"/>
          <p:cNvSpPr txBox="1"/>
          <p:nvPr/>
        </p:nvSpPr>
        <p:spPr>
          <a:xfrm>
            <a:off x="3017520" y="1929384"/>
            <a:ext cx="8915400" cy="365760"/>
          </a:xfrm>
          <a:prstGeom prst="rect">
            <a:avLst/>
          </a:prstGeom>
          <a:noFill/>
        </p:spPr>
        <p:txBody>
          <a:bodyPr wrap="square">
            <a:spAutoFit/>
          </a:bodyPr>
          <a:lstStyle/>
          <a:p>
            <a:pPr algn="l"/>
            <a:r>
              <a:rPr sz="1200" b="0">
                <a:solidFill>
                  <a:srgbClr val="CBD5E1"/>
                </a:solidFill>
              </a:rPr>
              <a:t>15 entries — drug safety thresholds, WHO guidelines, FDA approval dates, clinical trial results, ibuprofen pregnancy warnings.</a:t>
            </a:r>
          </a:p>
        </p:txBody>
      </p:sp>
      <p:sp>
        <p:nvSpPr>
          <p:cNvPr id="14" name="Rectangle 13"/>
          <p:cNvSpPr/>
          <p:nvPr/>
        </p:nvSpPr>
        <p:spPr>
          <a:xfrm>
            <a:off x="365760" y="2331720"/>
            <a:ext cx="256032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26080" y="2331720"/>
            <a:ext cx="905256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386584"/>
            <a:ext cx="2423160" cy="365760"/>
          </a:xfrm>
          <a:prstGeom prst="rect">
            <a:avLst/>
          </a:prstGeom>
          <a:noFill/>
        </p:spPr>
        <p:txBody>
          <a:bodyPr wrap="square">
            <a:spAutoFit/>
          </a:bodyPr>
          <a:lstStyle/>
          <a:p>
            <a:pPr algn="l"/>
            <a:r>
              <a:rPr sz="1200" b="1">
                <a:solidFill>
                  <a:srgbClr val="38BDF8"/>
                </a:solidFill>
              </a:rPr>
              <a:t>Legal facts</a:t>
            </a:r>
          </a:p>
        </p:txBody>
      </p:sp>
      <p:sp>
        <p:nvSpPr>
          <p:cNvPr id="17" name="TextBox 16"/>
          <p:cNvSpPr txBox="1"/>
          <p:nvPr/>
        </p:nvSpPr>
        <p:spPr>
          <a:xfrm>
            <a:off x="3017520" y="2386584"/>
            <a:ext cx="8915400" cy="365760"/>
          </a:xfrm>
          <a:prstGeom prst="rect">
            <a:avLst/>
          </a:prstGeom>
          <a:noFill/>
        </p:spPr>
        <p:txBody>
          <a:bodyPr wrap="square">
            <a:spAutoFit/>
          </a:bodyPr>
          <a:lstStyle/>
          <a:p>
            <a:pPr algn="l"/>
            <a:r>
              <a:rPr sz="1200" b="0">
                <a:solidFill>
                  <a:srgbClr val="CBD5E1"/>
                </a:solidFill>
              </a:rPr>
              <a:t>15 entries — GDPR (Art.17/20, fines up to €20M), CCPA, Miranda rights, attorney-client privilege, double jeopardy, NDA enforceability.</a:t>
            </a:r>
          </a:p>
        </p:txBody>
      </p:sp>
      <p:sp>
        <p:nvSpPr>
          <p:cNvPr id="18" name="Rectangle 17"/>
          <p:cNvSpPr/>
          <p:nvPr/>
        </p:nvSpPr>
        <p:spPr>
          <a:xfrm>
            <a:off x="365760" y="2788920"/>
            <a:ext cx="256032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26080" y="2788920"/>
            <a:ext cx="905256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843784"/>
            <a:ext cx="2423160" cy="365760"/>
          </a:xfrm>
          <a:prstGeom prst="rect">
            <a:avLst/>
          </a:prstGeom>
          <a:noFill/>
        </p:spPr>
        <p:txBody>
          <a:bodyPr wrap="square">
            <a:spAutoFit/>
          </a:bodyPr>
          <a:lstStyle/>
          <a:p>
            <a:pPr algn="l"/>
            <a:r>
              <a:rPr sz="1200" b="1">
                <a:solidFill>
                  <a:srgbClr val="38BDF8"/>
                </a:solidFill>
              </a:rPr>
              <a:t>Financial facts</a:t>
            </a:r>
          </a:p>
        </p:txBody>
      </p:sp>
      <p:sp>
        <p:nvSpPr>
          <p:cNvPr id="21" name="TextBox 20"/>
          <p:cNvSpPr txBox="1"/>
          <p:nvPr/>
        </p:nvSpPr>
        <p:spPr>
          <a:xfrm>
            <a:off x="3017520" y="2843784"/>
            <a:ext cx="8915400" cy="365760"/>
          </a:xfrm>
          <a:prstGeom prst="rect">
            <a:avLst/>
          </a:prstGeom>
          <a:noFill/>
        </p:spPr>
        <p:txBody>
          <a:bodyPr wrap="square">
            <a:spAutoFit/>
          </a:bodyPr>
          <a:lstStyle/>
          <a:p>
            <a:pPr algn="l"/>
            <a:r>
              <a:rPr sz="1200" b="0">
                <a:solidFill>
                  <a:srgbClr val="CBD5E1"/>
                </a:solidFill>
              </a:rPr>
              <a:t>15 entries — capital gains rates, Fed dual mandate, FDIC $250K limit, 401k contribution limits, Dodd-Frank, Basel III, FICO scoring.</a:t>
            </a:r>
          </a:p>
        </p:txBody>
      </p:sp>
      <p:sp>
        <p:nvSpPr>
          <p:cNvPr id="22" name="Rectangle 21"/>
          <p:cNvSpPr/>
          <p:nvPr/>
        </p:nvSpPr>
        <p:spPr>
          <a:xfrm>
            <a:off x="365760" y="3246120"/>
            <a:ext cx="256032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26080" y="3246120"/>
            <a:ext cx="9052560" cy="45720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300984"/>
            <a:ext cx="2423160" cy="365760"/>
          </a:xfrm>
          <a:prstGeom prst="rect">
            <a:avLst/>
          </a:prstGeom>
          <a:noFill/>
        </p:spPr>
        <p:txBody>
          <a:bodyPr wrap="square">
            <a:spAutoFit/>
          </a:bodyPr>
          <a:lstStyle/>
          <a:p>
            <a:pPr algn="l"/>
            <a:r>
              <a:rPr sz="1200" b="1">
                <a:solidFill>
                  <a:srgbClr val="38BDF8"/>
                </a:solidFill>
              </a:rPr>
              <a:t>Physics/Science</a:t>
            </a:r>
          </a:p>
        </p:txBody>
      </p:sp>
      <p:sp>
        <p:nvSpPr>
          <p:cNvPr id="25" name="TextBox 24"/>
          <p:cNvSpPr txBox="1"/>
          <p:nvPr/>
        </p:nvSpPr>
        <p:spPr>
          <a:xfrm>
            <a:off x="3017520" y="3300984"/>
            <a:ext cx="8915400" cy="365760"/>
          </a:xfrm>
          <a:prstGeom prst="rect">
            <a:avLst/>
          </a:prstGeom>
          <a:noFill/>
        </p:spPr>
        <p:txBody>
          <a:bodyPr wrap="square">
            <a:spAutoFit/>
          </a:bodyPr>
          <a:lstStyle/>
          <a:p>
            <a:pPr algn="l"/>
            <a:r>
              <a:rPr sz="1200" b="0">
                <a:solidFill>
                  <a:srgbClr val="CBD5E1"/>
                </a:solidFill>
              </a:rPr>
              <a:t>Speed of light (299,792,458 m/s), Planck constant, Bohr radius, laws of thermodynamics.</a:t>
            </a:r>
          </a:p>
        </p:txBody>
      </p:sp>
      <p:sp>
        <p:nvSpPr>
          <p:cNvPr id="26" name="Rectangle 25"/>
          <p:cNvSpPr/>
          <p:nvPr/>
        </p:nvSpPr>
        <p:spPr>
          <a:xfrm>
            <a:off x="365760" y="3703320"/>
            <a:ext cx="256032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926080" y="3703320"/>
            <a:ext cx="9052560" cy="45720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58184"/>
            <a:ext cx="2423160" cy="365760"/>
          </a:xfrm>
          <a:prstGeom prst="rect">
            <a:avLst/>
          </a:prstGeom>
          <a:noFill/>
        </p:spPr>
        <p:txBody>
          <a:bodyPr wrap="square">
            <a:spAutoFit/>
          </a:bodyPr>
          <a:lstStyle/>
          <a:p>
            <a:pPr algn="l"/>
            <a:r>
              <a:rPr sz="1200" b="1">
                <a:solidFill>
                  <a:srgbClr val="38BDF8"/>
                </a:solidFill>
              </a:rPr>
              <a:t>General tech</a:t>
            </a:r>
          </a:p>
        </p:txBody>
      </p:sp>
      <p:sp>
        <p:nvSpPr>
          <p:cNvPr id="29" name="TextBox 28"/>
          <p:cNvSpPr txBox="1"/>
          <p:nvPr/>
        </p:nvSpPr>
        <p:spPr>
          <a:xfrm>
            <a:off x="3017520" y="3758184"/>
            <a:ext cx="8915400" cy="365760"/>
          </a:xfrm>
          <a:prstGeom prst="rect">
            <a:avLst/>
          </a:prstGeom>
          <a:noFill/>
        </p:spPr>
        <p:txBody>
          <a:bodyPr wrap="square">
            <a:spAutoFit/>
          </a:bodyPr>
          <a:lstStyle/>
          <a:p>
            <a:pPr algn="l"/>
            <a:r>
              <a:rPr sz="1200" b="0">
                <a:solidFill>
                  <a:srgbClr val="CBD5E1"/>
                </a:solidFill>
              </a:rPr>
              <a:t>WWW invented 1989, Google founded 1998 (Mountain View), Apple co-founded 1976, iPhone launched June 2007.</a:t>
            </a:r>
          </a:p>
        </p:txBody>
      </p:sp>
      <p:sp>
        <p:nvSpPr>
          <p:cNvPr id="30" name="TextBox 29"/>
          <p:cNvSpPr txBox="1"/>
          <p:nvPr/>
        </p:nvSpPr>
        <p:spPr>
          <a:xfrm>
            <a:off x="365760" y="5074920"/>
            <a:ext cx="5486400" cy="292608"/>
          </a:xfrm>
          <a:prstGeom prst="rect">
            <a:avLst/>
          </a:prstGeom>
          <a:noFill/>
        </p:spPr>
        <p:txBody>
          <a:bodyPr wrap="square">
            <a:spAutoFit/>
          </a:bodyPr>
          <a:lstStyle/>
          <a:p>
            <a:pPr algn="l"/>
            <a:r>
              <a:rPr sz="1300" b="1">
                <a:solidFill>
                  <a:srgbClr val="38BDF8"/>
                </a:solidFill>
              </a:rPr>
              <a:t>Hybrid search config:</a:t>
            </a:r>
          </a:p>
        </p:txBody>
      </p:sp>
      <p:sp>
        <p:nvSpPr>
          <p:cNvPr id="31" name="Rectangle 30"/>
          <p:cNvSpPr/>
          <p:nvPr/>
        </p:nvSpPr>
        <p:spPr>
          <a:xfrm>
            <a:off x="365760" y="5394960"/>
            <a:ext cx="11430000" cy="34747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5431536"/>
            <a:ext cx="11155680" cy="292608"/>
          </a:xfrm>
          <a:prstGeom prst="rect">
            <a:avLst/>
          </a:prstGeom>
          <a:noFill/>
        </p:spPr>
        <p:txBody>
          <a:bodyPr wrap="square">
            <a:spAutoFit/>
          </a:bodyPr>
          <a:lstStyle/>
          <a:p>
            <a:pPr algn="l"/>
            <a:r>
              <a:rPr sz="1100" b="0">
                <a:solidFill>
                  <a:srgbClr val="34D399"/>
                </a:solidFill>
              </a:rPr>
              <a:t>BM25_WEIGHT=0.35  |  VECTOR_WEIGHT=0.65  |  TOP_K=5  |  RERANKER=ms-marco-MiniLM-L-6-v2  |  MIN_RELEVANCE=0.20</a:t>
            </a:r>
          </a:p>
        </p:txBody>
      </p:sp>
      <p:sp>
        <p:nvSpPr>
          <p:cNvPr id="33" name="TextBox 32"/>
          <p:cNvSpPr txBox="1"/>
          <p:nvPr/>
        </p:nvSpPr>
        <p:spPr>
          <a:xfrm>
            <a:off x="365760" y="5897880"/>
            <a:ext cx="11430000" cy="365760"/>
          </a:xfrm>
          <a:prstGeom prst="rect">
            <a:avLst/>
          </a:prstGeom>
          <a:noFill/>
        </p:spPr>
        <p:txBody>
          <a:bodyPr wrap="square">
            <a:spAutoFit/>
          </a:bodyPr>
          <a:lstStyle/>
          <a:p>
            <a:pPr algn="l"/>
            <a:r>
              <a:rPr sz="1200" b="0">
                <a:solidFill>
                  <a:srgbClr val="FBBF24"/>
                </a:solidFill>
              </a:rPr>
              <a:t>Web-RAG fallback: Tavily → DuckDuckGo activated when KB top score &lt; 0.25  |  Ingestion: text / URL / Wikipedia / PDF via REST API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07  Frontend &amp; User Experience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5-tab React SPA with real-time SSE streaming</a:t>
            </a:r>
          </a:p>
        </p:txBody>
      </p:sp>
      <p:sp>
        <p:nvSpPr>
          <p:cNvPr id="6" name="Rectangle 5"/>
          <p:cNvSpPr/>
          <p:nvPr/>
        </p:nvSpPr>
        <p:spPr>
          <a:xfrm>
            <a:off x="365760" y="1417320"/>
            <a:ext cx="219456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560320" y="1417320"/>
            <a:ext cx="932688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72184"/>
            <a:ext cx="2057400" cy="384048"/>
          </a:xfrm>
          <a:prstGeom prst="rect">
            <a:avLst/>
          </a:prstGeom>
          <a:noFill/>
        </p:spPr>
        <p:txBody>
          <a:bodyPr wrap="square">
            <a:spAutoFit/>
          </a:bodyPr>
          <a:lstStyle/>
          <a:p>
            <a:pPr algn="l"/>
            <a:r>
              <a:rPr sz="1200" b="1">
                <a:solidFill>
                  <a:srgbClr val="38BDF8"/>
                </a:solidFill>
              </a:rPr>
              <a:t>Playground</a:t>
            </a:r>
          </a:p>
        </p:txBody>
      </p:sp>
      <p:sp>
        <p:nvSpPr>
          <p:cNvPr id="9" name="TextBox 8"/>
          <p:cNvSpPr txBox="1"/>
          <p:nvPr/>
        </p:nvSpPr>
        <p:spPr>
          <a:xfrm>
            <a:off x="2651760" y="1472184"/>
            <a:ext cx="9189720" cy="384048"/>
          </a:xfrm>
          <a:prstGeom prst="rect">
            <a:avLst/>
          </a:prstGeom>
          <a:noFill/>
        </p:spPr>
        <p:txBody>
          <a:bodyPr wrap="square">
            <a:spAutoFit/>
          </a:bodyPr>
          <a:lstStyle/>
          <a:p>
            <a:pPr algn="l"/>
            <a:r>
              <a:rPr sz="1200" b="0">
                <a:solidFill>
                  <a:srgbClr val="CBD5E1"/>
                </a:solidFill>
              </a:rPr>
              <a:t>Paste any LLM output → SSE stream shows claims appearing live with VERIFIED (green) / FLAGGED (yellow) / BLOCKED (red) badges, confidence bars, verbatim evidence quotes, and self-corrected before/after diff.</a:t>
            </a:r>
          </a:p>
        </p:txBody>
      </p:sp>
      <p:sp>
        <p:nvSpPr>
          <p:cNvPr id="10" name="Rectangle 9"/>
          <p:cNvSpPr/>
          <p:nvPr/>
        </p:nvSpPr>
        <p:spPr>
          <a:xfrm>
            <a:off x="365760" y="1892808"/>
            <a:ext cx="2194560" cy="47548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0" y="1892808"/>
            <a:ext cx="9326880" cy="47548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47672"/>
            <a:ext cx="2057400" cy="384048"/>
          </a:xfrm>
          <a:prstGeom prst="rect">
            <a:avLst/>
          </a:prstGeom>
          <a:noFill/>
        </p:spPr>
        <p:txBody>
          <a:bodyPr wrap="square">
            <a:spAutoFit/>
          </a:bodyPr>
          <a:lstStyle/>
          <a:p>
            <a:pPr algn="l"/>
            <a:r>
              <a:rPr sz="1200" b="1">
                <a:solidFill>
                  <a:srgbClr val="38BDF8"/>
                </a:solidFill>
              </a:rPr>
              <a:t>Dashboard</a:t>
            </a:r>
          </a:p>
        </p:txBody>
      </p:sp>
      <p:sp>
        <p:nvSpPr>
          <p:cNvPr id="13" name="TextBox 12"/>
          <p:cNvSpPr txBox="1"/>
          <p:nvPr/>
        </p:nvSpPr>
        <p:spPr>
          <a:xfrm>
            <a:off x="2651760" y="1947672"/>
            <a:ext cx="9189720" cy="384048"/>
          </a:xfrm>
          <a:prstGeom prst="rect">
            <a:avLst/>
          </a:prstGeom>
          <a:noFill/>
        </p:spPr>
        <p:txBody>
          <a:bodyPr wrap="square">
            <a:spAutoFit/>
          </a:bodyPr>
          <a:lstStyle/>
          <a:p>
            <a:pPr algn="l"/>
            <a:r>
              <a:rPr sz="1200" b="0">
                <a:solidFill>
                  <a:srgbClr val="CBD5E1"/>
                </a:solidFill>
              </a:rPr>
              <a:t>Live charts: verified vs flagged vs blocked pie, confidence trend line over time, processing time bar chart, domain category breakdown, cache hit rate counter. Auto-refreshes every 10s.</a:t>
            </a:r>
          </a:p>
        </p:txBody>
      </p:sp>
      <p:sp>
        <p:nvSpPr>
          <p:cNvPr id="14" name="Rectangle 13"/>
          <p:cNvSpPr/>
          <p:nvPr/>
        </p:nvSpPr>
        <p:spPr>
          <a:xfrm>
            <a:off x="365760" y="2368296"/>
            <a:ext cx="219456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0" y="2368296"/>
            <a:ext cx="932688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423160"/>
            <a:ext cx="2057400" cy="384048"/>
          </a:xfrm>
          <a:prstGeom prst="rect">
            <a:avLst/>
          </a:prstGeom>
          <a:noFill/>
        </p:spPr>
        <p:txBody>
          <a:bodyPr wrap="square">
            <a:spAutoFit/>
          </a:bodyPr>
          <a:lstStyle/>
          <a:p>
            <a:pPr algn="l"/>
            <a:r>
              <a:rPr sz="1200" b="1">
                <a:solidFill>
                  <a:srgbClr val="38BDF8"/>
                </a:solidFill>
              </a:rPr>
              <a:t>Knowledge Base</a:t>
            </a:r>
          </a:p>
        </p:txBody>
      </p:sp>
      <p:sp>
        <p:nvSpPr>
          <p:cNvPr id="17" name="TextBox 16"/>
          <p:cNvSpPr txBox="1"/>
          <p:nvPr/>
        </p:nvSpPr>
        <p:spPr>
          <a:xfrm>
            <a:off x="2651760" y="2423160"/>
            <a:ext cx="9189720" cy="384048"/>
          </a:xfrm>
          <a:prstGeom prst="rect">
            <a:avLst/>
          </a:prstGeom>
          <a:noFill/>
        </p:spPr>
        <p:txBody>
          <a:bodyPr wrap="square">
            <a:spAutoFit/>
          </a:bodyPr>
          <a:lstStyle/>
          <a:p>
            <a:pPr algn="l"/>
            <a:r>
              <a:rPr sz="1200" b="0">
                <a:solidFill>
                  <a:srgbClr val="CBD5E1"/>
                </a:solidFill>
              </a:rPr>
              <a:t>Browse all 7,705+ chunks, search by keyword, add Wikipedia topics live, upload PDFs, delete documents, see per-source chunk counts and ingest dates.</a:t>
            </a:r>
          </a:p>
        </p:txBody>
      </p:sp>
      <p:sp>
        <p:nvSpPr>
          <p:cNvPr id="18" name="Rectangle 17"/>
          <p:cNvSpPr/>
          <p:nvPr/>
        </p:nvSpPr>
        <p:spPr>
          <a:xfrm>
            <a:off x="365760" y="2843784"/>
            <a:ext cx="2194560" cy="47548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0" y="2843784"/>
            <a:ext cx="9326880" cy="47548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898648"/>
            <a:ext cx="2057400" cy="384048"/>
          </a:xfrm>
          <a:prstGeom prst="rect">
            <a:avLst/>
          </a:prstGeom>
          <a:noFill/>
        </p:spPr>
        <p:txBody>
          <a:bodyPr wrap="square">
            <a:spAutoFit/>
          </a:bodyPr>
          <a:lstStyle/>
          <a:p>
            <a:pPr algn="l"/>
            <a:r>
              <a:rPr sz="1200" b="1">
                <a:solidFill>
                  <a:srgbClr val="38BDF8"/>
                </a:solidFill>
              </a:rPr>
              <a:t>Audit Log</a:t>
            </a:r>
          </a:p>
        </p:txBody>
      </p:sp>
      <p:sp>
        <p:nvSpPr>
          <p:cNvPr id="21" name="TextBox 20"/>
          <p:cNvSpPr txBox="1"/>
          <p:nvPr/>
        </p:nvSpPr>
        <p:spPr>
          <a:xfrm>
            <a:off x="2651760" y="2898648"/>
            <a:ext cx="9189720" cy="384048"/>
          </a:xfrm>
          <a:prstGeom prst="rect">
            <a:avLst/>
          </a:prstGeom>
          <a:noFill/>
        </p:spPr>
        <p:txBody>
          <a:bodyPr wrap="square">
            <a:spAutoFit/>
          </a:bodyPr>
          <a:lstStyle/>
          <a:p>
            <a:pPr algn="l"/>
            <a:r>
              <a:rPr sz="1200" b="0">
                <a:solidFill>
                  <a:srgbClr val="CBD5E1"/>
                </a:solidFill>
              </a:rPr>
              <a:t>Every request logged with full claim breakdown, timestamp, model, processing time, overall confidence, block/flag/pass counts. Filter by date range. Export JSON or CSV.</a:t>
            </a:r>
          </a:p>
        </p:txBody>
      </p:sp>
      <p:sp>
        <p:nvSpPr>
          <p:cNvPr id="22" name="Rectangle 21"/>
          <p:cNvSpPr/>
          <p:nvPr/>
        </p:nvSpPr>
        <p:spPr>
          <a:xfrm>
            <a:off x="365760" y="3319272"/>
            <a:ext cx="219456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560320" y="3319272"/>
            <a:ext cx="9326880" cy="47548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374136"/>
            <a:ext cx="2057400" cy="384048"/>
          </a:xfrm>
          <a:prstGeom prst="rect">
            <a:avLst/>
          </a:prstGeom>
          <a:noFill/>
        </p:spPr>
        <p:txBody>
          <a:bodyPr wrap="square">
            <a:spAutoFit/>
          </a:bodyPr>
          <a:lstStyle/>
          <a:p>
            <a:pPr algn="l"/>
            <a:r>
              <a:rPr sz="1200" b="1">
                <a:solidFill>
                  <a:srgbClr val="38BDF8"/>
                </a:solidFill>
              </a:rPr>
              <a:t>Settings</a:t>
            </a:r>
          </a:p>
        </p:txBody>
      </p:sp>
      <p:sp>
        <p:nvSpPr>
          <p:cNvPr id="25" name="TextBox 24"/>
          <p:cNvSpPr txBox="1"/>
          <p:nvPr/>
        </p:nvSpPr>
        <p:spPr>
          <a:xfrm>
            <a:off x="2651760" y="3374136"/>
            <a:ext cx="9189720" cy="384048"/>
          </a:xfrm>
          <a:prstGeom prst="rect">
            <a:avLst/>
          </a:prstGeom>
          <a:noFill/>
        </p:spPr>
        <p:txBody>
          <a:bodyPr wrap="square">
            <a:spAutoFit/>
          </a:bodyPr>
          <a:lstStyle/>
          <a:p>
            <a:pPr algn="l"/>
            <a:r>
              <a:rPr sz="1200" b="0">
                <a:solidFill>
                  <a:srgbClr val="CBD5E1"/>
                </a:solidFill>
              </a:rPr>
              <a:t>API key management (stored in localStorage), system health check panel, cache stats + clear button, LLM provider status, KB ingest tool, backend configuration display.</a:t>
            </a:r>
          </a:p>
        </p:txBody>
      </p:sp>
      <p:sp>
        <p:nvSpPr>
          <p:cNvPr id="26" name="TextBox 25"/>
          <p:cNvSpPr txBox="1"/>
          <p:nvPr/>
        </p:nvSpPr>
        <p:spPr>
          <a:xfrm>
            <a:off x="365760" y="4892040"/>
            <a:ext cx="11430000" cy="320040"/>
          </a:xfrm>
          <a:prstGeom prst="rect">
            <a:avLst/>
          </a:prstGeom>
          <a:noFill/>
        </p:spPr>
        <p:txBody>
          <a:bodyPr wrap="square">
            <a:spAutoFit/>
          </a:bodyPr>
          <a:lstStyle/>
          <a:p>
            <a:pPr algn="l"/>
            <a:r>
              <a:rPr sz="1300" b="1">
                <a:solidFill>
                  <a:srgbClr val="38BDF8"/>
                </a:solidFill>
              </a:rPr>
              <a:t>Live demo text — paste this to show all 4 error types at once:</a:t>
            </a:r>
          </a:p>
        </p:txBody>
      </p:sp>
      <p:sp>
        <p:nvSpPr>
          <p:cNvPr id="27" name="Rectangle 26"/>
          <p:cNvSpPr/>
          <p:nvPr/>
        </p:nvSpPr>
        <p:spPr>
          <a:xfrm>
            <a:off x="365760" y="5257800"/>
            <a:ext cx="11430000" cy="713232"/>
          </a:xfrm>
          <a:prstGeom prst="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303520"/>
            <a:ext cx="11155680" cy="594360"/>
          </a:xfrm>
          <a:prstGeom prst="rect">
            <a:avLst/>
          </a:prstGeom>
          <a:noFill/>
        </p:spPr>
        <p:txBody>
          <a:bodyPr wrap="square">
            <a:spAutoFit/>
          </a:bodyPr>
          <a:lstStyle/>
          <a:p>
            <a:pPr algn="l"/>
            <a:r>
              <a:rPr sz="1200" b="0">
                <a:solidFill>
                  <a:srgbClr val="FFFFFF"/>
                </a:solidFill>
              </a:rPr>
              <a:t>"The EU GDPR came into force on 1 June 2019. Data breaches must be reported within 24 hours. FDIC insures deposits up to $100,000. Ibuprofen is safe throughout all trimesters of pregnancy."</a:t>
            </a:r>
          </a:p>
        </p:txBody>
      </p:sp>
      <p:sp>
        <p:nvSpPr>
          <p:cNvPr id="29" name="TextBox 28"/>
          <p:cNvSpPr txBox="1"/>
          <p:nvPr/>
        </p:nvSpPr>
        <p:spPr>
          <a:xfrm>
            <a:off x="365760" y="6035040"/>
            <a:ext cx="11430000" cy="347472"/>
          </a:xfrm>
          <a:prstGeom prst="rect">
            <a:avLst/>
          </a:prstGeom>
          <a:noFill/>
        </p:spPr>
        <p:txBody>
          <a:bodyPr wrap="square">
            <a:spAutoFit/>
          </a:bodyPr>
          <a:lstStyle/>
          <a:p>
            <a:pPr algn="l"/>
            <a:r>
              <a:rPr sz="1300" b="1">
                <a:solidFill>
                  <a:srgbClr val="F87171"/>
                </a:solidFill>
              </a:rPr>
              <a:t>Every single fact above is WRONG — HalluCheck blocks/flags all 4 with evidence and rewrites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08  Technical Stack</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Every component chosen for production readiness</a:t>
            </a:r>
          </a:p>
        </p:txBody>
      </p:sp>
      <p:sp>
        <p:nvSpPr>
          <p:cNvPr id="6" name="Rectangle 5"/>
          <p:cNvSpPr/>
          <p:nvPr/>
        </p:nvSpPr>
        <p:spPr>
          <a:xfrm>
            <a:off x="365760" y="1371600"/>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108960" y="1371600"/>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26464"/>
            <a:ext cx="2606040" cy="301752"/>
          </a:xfrm>
          <a:prstGeom prst="rect">
            <a:avLst/>
          </a:prstGeom>
          <a:noFill/>
        </p:spPr>
        <p:txBody>
          <a:bodyPr wrap="square">
            <a:spAutoFit/>
          </a:bodyPr>
          <a:lstStyle/>
          <a:p>
            <a:pPr algn="l"/>
            <a:r>
              <a:rPr sz="1200" b="1">
                <a:solidFill>
                  <a:srgbClr val="38BDF8"/>
                </a:solidFill>
              </a:rPr>
              <a:t>NVIDIA NIM</a:t>
            </a:r>
          </a:p>
        </p:txBody>
      </p:sp>
      <p:sp>
        <p:nvSpPr>
          <p:cNvPr id="9" name="TextBox 8"/>
          <p:cNvSpPr txBox="1"/>
          <p:nvPr/>
        </p:nvSpPr>
        <p:spPr>
          <a:xfrm>
            <a:off x="3200400" y="1426464"/>
            <a:ext cx="8641080" cy="301752"/>
          </a:xfrm>
          <a:prstGeom prst="rect">
            <a:avLst/>
          </a:prstGeom>
          <a:noFill/>
        </p:spPr>
        <p:txBody>
          <a:bodyPr wrap="square">
            <a:spAutoFit/>
          </a:bodyPr>
          <a:lstStyle/>
          <a:p>
            <a:pPr algn="l"/>
            <a:r>
              <a:rPr sz="1200" b="0">
                <a:solidFill>
                  <a:srgbClr val="CBD5E1"/>
                </a:solidFill>
              </a:rPr>
              <a:t>Free-tier cloud GPU. llama-3.2-3b (extract) + llama-3.3-70b (verify). ~10× faster than local Ollama.</a:t>
            </a:r>
          </a:p>
        </p:txBody>
      </p:sp>
      <p:sp>
        <p:nvSpPr>
          <p:cNvPr id="10" name="Rectangle 9"/>
          <p:cNvSpPr/>
          <p:nvPr/>
        </p:nvSpPr>
        <p:spPr>
          <a:xfrm>
            <a:off x="365760" y="1764792"/>
            <a:ext cx="274320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1764792"/>
            <a:ext cx="877824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819656"/>
            <a:ext cx="2606040" cy="301752"/>
          </a:xfrm>
          <a:prstGeom prst="rect">
            <a:avLst/>
          </a:prstGeom>
          <a:noFill/>
        </p:spPr>
        <p:txBody>
          <a:bodyPr wrap="square">
            <a:spAutoFit/>
          </a:bodyPr>
          <a:lstStyle/>
          <a:p>
            <a:pPr algn="l"/>
            <a:r>
              <a:rPr sz="1200" b="1">
                <a:solidFill>
                  <a:srgbClr val="38BDF8"/>
                </a:solidFill>
              </a:rPr>
              <a:t>ChromaDB</a:t>
            </a:r>
          </a:p>
        </p:txBody>
      </p:sp>
      <p:sp>
        <p:nvSpPr>
          <p:cNvPr id="13" name="TextBox 12"/>
          <p:cNvSpPr txBox="1"/>
          <p:nvPr/>
        </p:nvSpPr>
        <p:spPr>
          <a:xfrm>
            <a:off x="3200400" y="1819656"/>
            <a:ext cx="8641080" cy="301752"/>
          </a:xfrm>
          <a:prstGeom prst="rect">
            <a:avLst/>
          </a:prstGeom>
          <a:noFill/>
        </p:spPr>
        <p:txBody>
          <a:bodyPr wrap="square">
            <a:spAutoFit/>
          </a:bodyPr>
          <a:lstStyle/>
          <a:p>
            <a:pPr algn="l"/>
            <a:r>
              <a:rPr sz="1200" b="0">
                <a:solidFill>
                  <a:srgbClr val="CBD5E1"/>
                </a:solidFill>
              </a:rPr>
              <a:t>Persistent vector store. HNSW cosine index. Zero-cost self-hosted. GPU-accelerated embeddings.</a:t>
            </a:r>
          </a:p>
        </p:txBody>
      </p:sp>
      <p:sp>
        <p:nvSpPr>
          <p:cNvPr id="14" name="Rectangle 13"/>
          <p:cNvSpPr/>
          <p:nvPr/>
        </p:nvSpPr>
        <p:spPr>
          <a:xfrm>
            <a:off x="365760" y="2157984"/>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08960" y="2157984"/>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212848"/>
            <a:ext cx="2606040" cy="301752"/>
          </a:xfrm>
          <a:prstGeom prst="rect">
            <a:avLst/>
          </a:prstGeom>
          <a:noFill/>
        </p:spPr>
        <p:txBody>
          <a:bodyPr wrap="square">
            <a:spAutoFit/>
          </a:bodyPr>
          <a:lstStyle/>
          <a:p>
            <a:pPr algn="l"/>
            <a:r>
              <a:rPr sz="1200" b="1">
                <a:solidFill>
                  <a:srgbClr val="38BDF8"/>
                </a:solidFill>
              </a:rPr>
              <a:t>BM25 (rank_bm25)</a:t>
            </a:r>
          </a:p>
        </p:txBody>
      </p:sp>
      <p:sp>
        <p:nvSpPr>
          <p:cNvPr id="17" name="TextBox 16"/>
          <p:cNvSpPr txBox="1"/>
          <p:nvPr/>
        </p:nvSpPr>
        <p:spPr>
          <a:xfrm>
            <a:off x="3200400" y="2212848"/>
            <a:ext cx="8641080" cy="301752"/>
          </a:xfrm>
          <a:prstGeom prst="rect">
            <a:avLst/>
          </a:prstGeom>
          <a:noFill/>
        </p:spPr>
        <p:txBody>
          <a:bodyPr wrap="square">
            <a:spAutoFit/>
          </a:bodyPr>
          <a:lstStyle/>
          <a:p>
            <a:pPr algn="l"/>
            <a:r>
              <a:rPr sz="1200" b="0">
                <a:solidFill>
                  <a:srgbClr val="CBD5E1"/>
                </a:solidFill>
              </a:rPr>
              <a:t>In-memory keyword index. Rebuilt from ChromaDB at startup. Adds lexical recall to semantic search.</a:t>
            </a:r>
          </a:p>
        </p:txBody>
      </p:sp>
      <p:sp>
        <p:nvSpPr>
          <p:cNvPr id="18" name="Rectangle 17"/>
          <p:cNvSpPr/>
          <p:nvPr/>
        </p:nvSpPr>
        <p:spPr>
          <a:xfrm>
            <a:off x="365760" y="2551176"/>
            <a:ext cx="274320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108960" y="2551176"/>
            <a:ext cx="877824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606040"/>
            <a:ext cx="2606040" cy="301752"/>
          </a:xfrm>
          <a:prstGeom prst="rect">
            <a:avLst/>
          </a:prstGeom>
          <a:noFill/>
        </p:spPr>
        <p:txBody>
          <a:bodyPr wrap="square">
            <a:spAutoFit/>
          </a:bodyPr>
          <a:lstStyle/>
          <a:p>
            <a:pPr algn="l"/>
            <a:r>
              <a:rPr sz="1200" b="1">
                <a:solidFill>
                  <a:srgbClr val="38BDF8"/>
                </a:solidFill>
              </a:rPr>
              <a:t>CrossEncoder reranker</a:t>
            </a:r>
          </a:p>
        </p:txBody>
      </p:sp>
      <p:sp>
        <p:nvSpPr>
          <p:cNvPr id="21" name="TextBox 20"/>
          <p:cNvSpPr txBox="1"/>
          <p:nvPr/>
        </p:nvSpPr>
        <p:spPr>
          <a:xfrm>
            <a:off x="3200400" y="2606040"/>
            <a:ext cx="8641080" cy="301752"/>
          </a:xfrm>
          <a:prstGeom prst="rect">
            <a:avLst/>
          </a:prstGeom>
          <a:noFill/>
        </p:spPr>
        <p:txBody>
          <a:bodyPr wrap="square">
            <a:spAutoFit/>
          </a:bodyPr>
          <a:lstStyle/>
          <a:p>
            <a:pPr algn="l"/>
            <a:r>
              <a:rPr sz="1200" b="0">
                <a:solidFill>
                  <a:srgbClr val="CBD5E1"/>
                </a:solidFill>
              </a:rPr>
              <a:t>ms-marco-MiniLM-L-6-v2. Reranks 10 candidates → 5. Significant precision gain with &lt;100ms overhead.</a:t>
            </a:r>
          </a:p>
        </p:txBody>
      </p:sp>
      <p:sp>
        <p:nvSpPr>
          <p:cNvPr id="22" name="Rectangle 21"/>
          <p:cNvSpPr/>
          <p:nvPr/>
        </p:nvSpPr>
        <p:spPr>
          <a:xfrm>
            <a:off x="365760" y="2944368"/>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2944368"/>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999232"/>
            <a:ext cx="2606040" cy="301752"/>
          </a:xfrm>
          <a:prstGeom prst="rect">
            <a:avLst/>
          </a:prstGeom>
          <a:noFill/>
        </p:spPr>
        <p:txBody>
          <a:bodyPr wrap="square">
            <a:spAutoFit/>
          </a:bodyPr>
          <a:lstStyle/>
          <a:p>
            <a:pPr algn="l"/>
            <a:r>
              <a:rPr sz="1200" b="1">
                <a:solidFill>
                  <a:srgbClr val="38BDF8"/>
                </a:solidFill>
              </a:rPr>
              <a:t>sentence-transformers</a:t>
            </a:r>
          </a:p>
        </p:txBody>
      </p:sp>
      <p:sp>
        <p:nvSpPr>
          <p:cNvPr id="25" name="TextBox 24"/>
          <p:cNvSpPr txBox="1"/>
          <p:nvPr/>
        </p:nvSpPr>
        <p:spPr>
          <a:xfrm>
            <a:off x="3200400" y="2999232"/>
            <a:ext cx="8641080" cy="301752"/>
          </a:xfrm>
          <a:prstGeom prst="rect">
            <a:avLst/>
          </a:prstGeom>
          <a:noFill/>
        </p:spPr>
        <p:txBody>
          <a:bodyPr wrap="square">
            <a:spAutoFit/>
          </a:bodyPr>
          <a:lstStyle/>
          <a:p>
            <a:pPr algn="l"/>
            <a:r>
              <a:rPr sz="1200" b="0">
                <a:solidFill>
                  <a:srgbClr val="CBD5E1"/>
                </a:solidFill>
              </a:rPr>
              <a:t>all-MiniLM-L6-v2. GPU-aware (CUDA auto-detected). Baked into Docker image — no cold-start download.</a:t>
            </a:r>
          </a:p>
        </p:txBody>
      </p:sp>
      <p:sp>
        <p:nvSpPr>
          <p:cNvPr id="26" name="Rectangle 25"/>
          <p:cNvSpPr/>
          <p:nvPr/>
        </p:nvSpPr>
        <p:spPr>
          <a:xfrm>
            <a:off x="365760" y="3337560"/>
            <a:ext cx="274320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108960" y="3337560"/>
            <a:ext cx="877824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392424"/>
            <a:ext cx="2606040" cy="301752"/>
          </a:xfrm>
          <a:prstGeom prst="rect">
            <a:avLst/>
          </a:prstGeom>
          <a:noFill/>
        </p:spPr>
        <p:txBody>
          <a:bodyPr wrap="square">
            <a:spAutoFit/>
          </a:bodyPr>
          <a:lstStyle/>
          <a:p>
            <a:pPr algn="l"/>
            <a:r>
              <a:rPr sz="1200" b="1">
                <a:solidFill>
                  <a:srgbClr val="38BDF8"/>
                </a:solidFill>
              </a:rPr>
              <a:t>Redis</a:t>
            </a:r>
          </a:p>
        </p:txBody>
      </p:sp>
      <p:sp>
        <p:nvSpPr>
          <p:cNvPr id="29" name="TextBox 28"/>
          <p:cNvSpPr txBox="1"/>
          <p:nvPr/>
        </p:nvSpPr>
        <p:spPr>
          <a:xfrm>
            <a:off x="3200400" y="3392424"/>
            <a:ext cx="8641080" cy="301752"/>
          </a:xfrm>
          <a:prstGeom prst="rect">
            <a:avLst/>
          </a:prstGeom>
          <a:noFill/>
        </p:spPr>
        <p:txBody>
          <a:bodyPr wrap="square">
            <a:spAutoFit/>
          </a:bodyPr>
          <a:lstStyle/>
          <a:p>
            <a:pPr algn="l"/>
            <a:r>
              <a:rPr sz="1200" b="0">
                <a:solidFill>
                  <a:srgbClr val="CBD5E1"/>
                </a:solidFill>
              </a:rPr>
              <a:t>Semantic claim cache (1h TTL). 3-level cache: semantic ChromaDB → Redis → in-memory dict.</a:t>
            </a:r>
          </a:p>
        </p:txBody>
      </p:sp>
      <p:sp>
        <p:nvSpPr>
          <p:cNvPr id="30" name="Rectangle 29"/>
          <p:cNvSpPr/>
          <p:nvPr/>
        </p:nvSpPr>
        <p:spPr>
          <a:xfrm>
            <a:off x="365760" y="3730752"/>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108960" y="3730752"/>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785616"/>
            <a:ext cx="2606040" cy="301752"/>
          </a:xfrm>
          <a:prstGeom prst="rect">
            <a:avLst/>
          </a:prstGeom>
          <a:noFill/>
        </p:spPr>
        <p:txBody>
          <a:bodyPr wrap="square">
            <a:spAutoFit/>
          </a:bodyPr>
          <a:lstStyle/>
          <a:p>
            <a:pPr algn="l"/>
            <a:r>
              <a:rPr sz="1200" b="1">
                <a:solidFill>
                  <a:srgbClr val="38BDF8"/>
                </a:solidFill>
              </a:rPr>
              <a:t>FastAPI + uvicorn</a:t>
            </a:r>
          </a:p>
        </p:txBody>
      </p:sp>
      <p:sp>
        <p:nvSpPr>
          <p:cNvPr id="33" name="TextBox 32"/>
          <p:cNvSpPr txBox="1"/>
          <p:nvPr/>
        </p:nvSpPr>
        <p:spPr>
          <a:xfrm>
            <a:off x="3200400" y="3785616"/>
            <a:ext cx="8641080" cy="301752"/>
          </a:xfrm>
          <a:prstGeom prst="rect">
            <a:avLst/>
          </a:prstGeom>
          <a:noFill/>
        </p:spPr>
        <p:txBody>
          <a:bodyPr wrap="square">
            <a:spAutoFit/>
          </a:bodyPr>
          <a:lstStyle/>
          <a:p>
            <a:pPr algn="l"/>
            <a:r>
              <a:rPr sz="1200" b="0">
                <a:solidFill>
                  <a:srgbClr val="CBD5E1"/>
                </a:solidFill>
              </a:rPr>
              <a:t>Async ASGI. StreamingResponse SSE. pydantic-settings typed config. OpenAPI docs auto-generated.</a:t>
            </a:r>
          </a:p>
        </p:txBody>
      </p:sp>
      <p:sp>
        <p:nvSpPr>
          <p:cNvPr id="34" name="Rectangle 33"/>
          <p:cNvSpPr/>
          <p:nvPr/>
        </p:nvSpPr>
        <p:spPr>
          <a:xfrm>
            <a:off x="365760" y="4123944"/>
            <a:ext cx="274320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108960" y="4123944"/>
            <a:ext cx="877824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4178808"/>
            <a:ext cx="2606040" cy="301752"/>
          </a:xfrm>
          <a:prstGeom prst="rect">
            <a:avLst/>
          </a:prstGeom>
          <a:noFill/>
        </p:spPr>
        <p:txBody>
          <a:bodyPr wrap="square">
            <a:spAutoFit/>
          </a:bodyPr>
          <a:lstStyle/>
          <a:p>
            <a:pPr algn="l"/>
            <a:r>
              <a:rPr sz="1200" b="1">
                <a:solidFill>
                  <a:srgbClr val="38BDF8"/>
                </a:solidFill>
              </a:rPr>
              <a:t>React + Vite</a:t>
            </a:r>
          </a:p>
        </p:txBody>
      </p:sp>
      <p:sp>
        <p:nvSpPr>
          <p:cNvPr id="37" name="TextBox 36"/>
          <p:cNvSpPr txBox="1"/>
          <p:nvPr/>
        </p:nvSpPr>
        <p:spPr>
          <a:xfrm>
            <a:off x="3200400" y="4178808"/>
            <a:ext cx="8641080" cy="301752"/>
          </a:xfrm>
          <a:prstGeom prst="rect">
            <a:avLst/>
          </a:prstGeom>
          <a:noFill/>
        </p:spPr>
        <p:txBody>
          <a:bodyPr wrap="square">
            <a:spAutoFit/>
          </a:bodyPr>
          <a:lstStyle/>
          <a:p>
            <a:pPr algn="l"/>
            <a:r>
              <a:rPr sz="1200" b="0">
                <a:solidFill>
                  <a:srgbClr val="CBD5E1"/>
                </a:solidFill>
              </a:rPr>
              <a:t>SPA bundled into Docker image. No separate frontend server. recharts for live dashboard.</a:t>
            </a:r>
          </a:p>
        </p:txBody>
      </p:sp>
      <p:sp>
        <p:nvSpPr>
          <p:cNvPr id="38" name="Rectangle 37"/>
          <p:cNvSpPr/>
          <p:nvPr/>
        </p:nvSpPr>
        <p:spPr>
          <a:xfrm>
            <a:off x="365760" y="4517136"/>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108960" y="4517136"/>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572000"/>
            <a:ext cx="2606040" cy="301752"/>
          </a:xfrm>
          <a:prstGeom prst="rect">
            <a:avLst/>
          </a:prstGeom>
          <a:noFill/>
        </p:spPr>
        <p:txBody>
          <a:bodyPr wrap="square">
            <a:spAutoFit/>
          </a:bodyPr>
          <a:lstStyle/>
          <a:p>
            <a:pPr algn="l"/>
            <a:r>
              <a:rPr sz="1200" b="1">
                <a:solidFill>
                  <a:srgbClr val="38BDF8"/>
                </a:solidFill>
              </a:rPr>
              <a:t>nginx</a:t>
            </a:r>
          </a:p>
        </p:txBody>
      </p:sp>
      <p:sp>
        <p:nvSpPr>
          <p:cNvPr id="41" name="TextBox 40"/>
          <p:cNvSpPr txBox="1"/>
          <p:nvPr/>
        </p:nvSpPr>
        <p:spPr>
          <a:xfrm>
            <a:off x="3200400" y="4572000"/>
            <a:ext cx="8641080" cy="301752"/>
          </a:xfrm>
          <a:prstGeom prst="rect">
            <a:avLst/>
          </a:prstGeom>
          <a:noFill/>
        </p:spPr>
        <p:txBody>
          <a:bodyPr wrap="square">
            <a:spAutoFit/>
          </a:bodyPr>
          <a:lstStyle/>
          <a:p>
            <a:pPr algn="l"/>
            <a:r>
              <a:rPr sz="1200" b="0">
                <a:solidFill>
                  <a:srgbClr val="CBD5E1"/>
                </a:solidFill>
              </a:rPr>
              <a:t>TLS 1.2/1.3 termination. HTTP→HTTPS redirect. proxy_buffering off for SSE. Rate limit headers.</a:t>
            </a:r>
          </a:p>
        </p:txBody>
      </p:sp>
      <p:sp>
        <p:nvSpPr>
          <p:cNvPr id="42" name="Rectangle 41"/>
          <p:cNvSpPr/>
          <p:nvPr/>
        </p:nvSpPr>
        <p:spPr>
          <a:xfrm>
            <a:off x="365760" y="4910328"/>
            <a:ext cx="274320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108960" y="4910328"/>
            <a:ext cx="8778240" cy="393192"/>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965192"/>
            <a:ext cx="2606040" cy="301752"/>
          </a:xfrm>
          <a:prstGeom prst="rect">
            <a:avLst/>
          </a:prstGeom>
          <a:noFill/>
        </p:spPr>
        <p:txBody>
          <a:bodyPr wrap="square">
            <a:spAutoFit/>
          </a:bodyPr>
          <a:lstStyle/>
          <a:p>
            <a:pPr algn="l"/>
            <a:r>
              <a:rPr sz="1200" b="1">
                <a:solidFill>
                  <a:srgbClr val="38BDF8"/>
                </a:solidFill>
              </a:rPr>
              <a:t>Docker Compose</a:t>
            </a:r>
          </a:p>
        </p:txBody>
      </p:sp>
      <p:sp>
        <p:nvSpPr>
          <p:cNvPr id="45" name="TextBox 44"/>
          <p:cNvSpPr txBox="1"/>
          <p:nvPr/>
        </p:nvSpPr>
        <p:spPr>
          <a:xfrm>
            <a:off x="3200400" y="4965192"/>
            <a:ext cx="8641080" cy="301752"/>
          </a:xfrm>
          <a:prstGeom prst="rect">
            <a:avLst/>
          </a:prstGeom>
          <a:noFill/>
        </p:spPr>
        <p:txBody>
          <a:bodyPr wrap="square">
            <a:spAutoFit/>
          </a:bodyPr>
          <a:lstStyle/>
          <a:p>
            <a:pPr algn="l"/>
            <a:r>
              <a:rPr sz="1200" b="0">
                <a:solidFill>
                  <a:srgbClr val="CBD5E1"/>
                </a:solidFill>
              </a:rPr>
              <a:t>4-service: middleware + redis + nginx. Non-root user. GPU passthrough. Offline model cache.</a:t>
            </a:r>
          </a:p>
        </p:txBody>
      </p:sp>
      <p:sp>
        <p:nvSpPr>
          <p:cNvPr id="46" name="Rectangle 45"/>
          <p:cNvSpPr/>
          <p:nvPr/>
        </p:nvSpPr>
        <p:spPr>
          <a:xfrm>
            <a:off x="365760" y="5303520"/>
            <a:ext cx="274320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108960" y="5303520"/>
            <a:ext cx="8778240" cy="393192"/>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5358384"/>
            <a:ext cx="2606040" cy="301752"/>
          </a:xfrm>
          <a:prstGeom prst="rect">
            <a:avLst/>
          </a:prstGeom>
          <a:noFill/>
        </p:spPr>
        <p:txBody>
          <a:bodyPr wrap="square">
            <a:spAutoFit/>
          </a:bodyPr>
          <a:lstStyle/>
          <a:p>
            <a:pPr algn="l"/>
            <a:r>
              <a:rPr sz="1200" b="1">
                <a:solidFill>
                  <a:srgbClr val="38BDF8"/>
                </a:solidFill>
              </a:rPr>
              <a:t>GitHub Actions CI</a:t>
            </a:r>
          </a:p>
        </p:txBody>
      </p:sp>
      <p:sp>
        <p:nvSpPr>
          <p:cNvPr id="49" name="TextBox 48"/>
          <p:cNvSpPr txBox="1"/>
          <p:nvPr/>
        </p:nvSpPr>
        <p:spPr>
          <a:xfrm>
            <a:off x="3200400" y="5358384"/>
            <a:ext cx="8641080" cy="301752"/>
          </a:xfrm>
          <a:prstGeom prst="rect">
            <a:avLst/>
          </a:prstGeom>
          <a:noFill/>
        </p:spPr>
        <p:txBody>
          <a:bodyPr wrap="square">
            <a:spAutoFit/>
          </a:bodyPr>
          <a:lstStyle/>
          <a:p>
            <a:pPr algn="l"/>
            <a:r>
              <a:rPr sz="1200" b="0">
                <a:solidFill>
                  <a:srgbClr val="CBD5E1"/>
                </a:solidFill>
              </a:rPr>
              <a:t>pytest (46 tests) + ruff lint on every push to main. Zero broken merges policy.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09  Performance &amp; Evaluation</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Benchmarks and quality metrics</a:t>
            </a:r>
          </a:p>
        </p:txBody>
      </p:sp>
      <p:sp>
        <p:nvSpPr>
          <p:cNvPr id="6" name="Rectangle 5"/>
          <p:cNvSpPr/>
          <p:nvPr/>
        </p:nvSpPr>
        <p:spPr>
          <a:xfrm>
            <a:off x="365760" y="1371600"/>
            <a:ext cx="2148840" cy="777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417320"/>
            <a:ext cx="2148840" cy="457200"/>
          </a:xfrm>
          <a:prstGeom prst="rect">
            <a:avLst/>
          </a:prstGeom>
          <a:noFill/>
        </p:spPr>
        <p:txBody>
          <a:bodyPr wrap="square">
            <a:spAutoFit/>
          </a:bodyPr>
          <a:lstStyle/>
          <a:p>
            <a:pPr algn="ctr"/>
            <a:r>
              <a:rPr sz="2800" b="1">
                <a:solidFill>
                  <a:srgbClr val="34D399"/>
                </a:solidFill>
              </a:rPr>
              <a:t>~9 s</a:t>
            </a:r>
          </a:p>
        </p:txBody>
      </p:sp>
      <p:sp>
        <p:nvSpPr>
          <p:cNvPr id="8" name="TextBox 7"/>
          <p:cNvSpPr txBox="1"/>
          <p:nvPr/>
        </p:nvSpPr>
        <p:spPr>
          <a:xfrm>
            <a:off x="365760" y="1828800"/>
            <a:ext cx="2148840" cy="274320"/>
          </a:xfrm>
          <a:prstGeom prst="rect">
            <a:avLst/>
          </a:prstGeom>
          <a:noFill/>
        </p:spPr>
        <p:txBody>
          <a:bodyPr wrap="square">
            <a:spAutoFit/>
          </a:bodyPr>
          <a:lstStyle/>
          <a:p>
            <a:pPr algn="ctr"/>
            <a:r>
              <a:rPr sz="1100" b="0">
                <a:solidFill>
                  <a:srgbClr val="94A3B8"/>
                </a:solidFill>
              </a:rPr>
              <a:t>End-to-end (NIM)</a:t>
            </a:r>
          </a:p>
        </p:txBody>
      </p:sp>
      <p:sp>
        <p:nvSpPr>
          <p:cNvPr id="9" name="Rectangle 8"/>
          <p:cNvSpPr/>
          <p:nvPr/>
        </p:nvSpPr>
        <p:spPr>
          <a:xfrm>
            <a:off x="2606040" y="1371600"/>
            <a:ext cx="2148840" cy="777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06040" y="1417320"/>
            <a:ext cx="2148840" cy="457200"/>
          </a:xfrm>
          <a:prstGeom prst="rect">
            <a:avLst/>
          </a:prstGeom>
          <a:noFill/>
        </p:spPr>
        <p:txBody>
          <a:bodyPr wrap="square">
            <a:spAutoFit/>
          </a:bodyPr>
          <a:lstStyle/>
          <a:p>
            <a:pPr algn="ctr"/>
            <a:r>
              <a:rPr sz="2800" b="1">
                <a:solidFill>
                  <a:srgbClr val="FBBF24"/>
                </a:solidFill>
              </a:rPr>
              <a:t>80-240s</a:t>
            </a:r>
          </a:p>
        </p:txBody>
      </p:sp>
      <p:sp>
        <p:nvSpPr>
          <p:cNvPr id="11" name="TextBox 10"/>
          <p:cNvSpPr txBox="1"/>
          <p:nvPr/>
        </p:nvSpPr>
        <p:spPr>
          <a:xfrm>
            <a:off x="2606040" y="1828800"/>
            <a:ext cx="2148840" cy="274320"/>
          </a:xfrm>
          <a:prstGeom prst="rect">
            <a:avLst/>
          </a:prstGeom>
          <a:noFill/>
        </p:spPr>
        <p:txBody>
          <a:bodyPr wrap="square">
            <a:spAutoFit/>
          </a:bodyPr>
          <a:lstStyle/>
          <a:p>
            <a:pPr algn="ctr"/>
            <a:r>
              <a:rPr sz="1100" b="0">
                <a:solidFill>
                  <a:srgbClr val="94A3B8"/>
                </a:solidFill>
              </a:rPr>
              <a:t>End-to-end (local)</a:t>
            </a:r>
          </a:p>
        </p:txBody>
      </p:sp>
      <p:sp>
        <p:nvSpPr>
          <p:cNvPr id="12" name="Rectangle 11"/>
          <p:cNvSpPr/>
          <p:nvPr/>
        </p:nvSpPr>
        <p:spPr>
          <a:xfrm>
            <a:off x="4846320" y="1371600"/>
            <a:ext cx="2148840" cy="777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46320" y="1417320"/>
            <a:ext cx="2148840" cy="457200"/>
          </a:xfrm>
          <a:prstGeom prst="rect">
            <a:avLst/>
          </a:prstGeom>
          <a:noFill/>
        </p:spPr>
        <p:txBody>
          <a:bodyPr wrap="square">
            <a:spAutoFit/>
          </a:bodyPr>
          <a:lstStyle/>
          <a:p>
            <a:pPr algn="ctr"/>
            <a:r>
              <a:rPr sz="2800" b="1">
                <a:solidFill>
                  <a:srgbClr val="38BDF8"/>
                </a:solidFill>
              </a:rPr>
              <a:t>7,705+</a:t>
            </a:r>
          </a:p>
        </p:txBody>
      </p:sp>
      <p:sp>
        <p:nvSpPr>
          <p:cNvPr id="14" name="TextBox 13"/>
          <p:cNvSpPr txBox="1"/>
          <p:nvPr/>
        </p:nvSpPr>
        <p:spPr>
          <a:xfrm>
            <a:off x="4846320" y="1828800"/>
            <a:ext cx="2148840" cy="274320"/>
          </a:xfrm>
          <a:prstGeom prst="rect">
            <a:avLst/>
          </a:prstGeom>
          <a:noFill/>
        </p:spPr>
        <p:txBody>
          <a:bodyPr wrap="square">
            <a:spAutoFit/>
          </a:bodyPr>
          <a:lstStyle/>
          <a:p>
            <a:pPr algn="ctr"/>
            <a:r>
              <a:rPr sz="1100" b="0">
                <a:solidFill>
                  <a:srgbClr val="94A3B8"/>
                </a:solidFill>
              </a:rPr>
              <a:t>KB chunks</a:t>
            </a:r>
          </a:p>
        </p:txBody>
      </p:sp>
      <p:sp>
        <p:nvSpPr>
          <p:cNvPr id="15" name="Rectangle 14"/>
          <p:cNvSpPr/>
          <p:nvPr/>
        </p:nvSpPr>
        <p:spPr>
          <a:xfrm>
            <a:off x="7086600" y="1371600"/>
            <a:ext cx="2148840" cy="777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86600" y="1417320"/>
            <a:ext cx="2148840" cy="457200"/>
          </a:xfrm>
          <a:prstGeom prst="rect">
            <a:avLst/>
          </a:prstGeom>
          <a:noFill/>
        </p:spPr>
        <p:txBody>
          <a:bodyPr wrap="square">
            <a:spAutoFit/>
          </a:bodyPr>
          <a:lstStyle/>
          <a:p>
            <a:pPr algn="ctr"/>
            <a:r>
              <a:rPr sz="2800" b="1">
                <a:solidFill>
                  <a:srgbClr val="34D399"/>
                </a:solidFill>
              </a:rPr>
              <a:t>~100%</a:t>
            </a:r>
          </a:p>
        </p:txBody>
      </p:sp>
      <p:sp>
        <p:nvSpPr>
          <p:cNvPr id="17" name="TextBox 16"/>
          <p:cNvSpPr txBox="1"/>
          <p:nvPr/>
        </p:nvSpPr>
        <p:spPr>
          <a:xfrm>
            <a:off x="7086600" y="1828800"/>
            <a:ext cx="2148840" cy="274320"/>
          </a:xfrm>
          <a:prstGeom prst="rect">
            <a:avLst/>
          </a:prstGeom>
          <a:noFill/>
        </p:spPr>
        <p:txBody>
          <a:bodyPr wrap="square">
            <a:spAutoFit/>
          </a:bodyPr>
          <a:lstStyle/>
          <a:p>
            <a:pPr algn="ctr"/>
            <a:r>
              <a:rPr sz="1100" b="0">
                <a:solidFill>
                  <a:srgbClr val="94A3B8"/>
                </a:solidFill>
              </a:rPr>
              <a:t>Semantic cache hit</a:t>
            </a:r>
          </a:p>
        </p:txBody>
      </p:sp>
      <p:sp>
        <p:nvSpPr>
          <p:cNvPr id="18" name="Rectangle 17"/>
          <p:cNvSpPr/>
          <p:nvPr/>
        </p:nvSpPr>
        <p:spPr>
          <a:xfrm>
            <a:off x="9326880" y="1371600"/>
            <a:ext cx="2148840" cy="77724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1417320"/>
            <a:ext cx="2148840" cy="457200"/>
          </a:xfrm>
          <a:prstGeom prst="rect">
            <a:avLst/>
          </a:prstGeom>
          <a:noFill/>
        </p:spPr>
        <p:txBody>
          <a:bodyPr wrap="square">
            <a:spAutoFit/>
          </a:bodyPr>
          <a:lstStyle/>
          <a:p>
            <a:pPr algn="ctr"/>
            <a:r>
              <a:rPr sz="2800" b="1">
                <a:solidFill>
                  <a:srgbClr val="34D399"/>
                </a:solidFill>
              </a:rPr>
              <a:t>46 pass</a:t>
            </a:r>
          </a:p>
        </p:txBody>
      </p:sp>
      <p:sp>
        <p:nvSpPr>
          <p:cNvPr id="20" name="TextBox 19"/>
          <p:cNvSpPr txBox="1"/>
          <p:nvPr/>
        </p:nvSpPr>
        <p:spPr>
          <a:xfrm>
            <a:off x="9326880" y="1828800"/>
            <a:ext cx="2148840" cy="274320"/>
          </a:xfrm>
          <a:prstGeom prst="rect">
            <a:avLst/>
          </a:prstGeom>
          <a:noFill/>
        </p:spPr>
        <p:txBody>
          <a:bodyPr wrap="square">
            <a:spAutoFit/>
          </a:bodyPr>
          <a:lstStyle/>
          <a:p>
            <a:pPr algn="ctr"/>
            <a:r>
              <a:rPr sz="1100" b="0">
                <a:solidFill>
                  <a:srgbClr val="94A3B8"/>
                </a:solidFill>
              </a:rPr>
              <a:t>Test suite</a:t>
            </a:r>
          </a:p>
        </p:txBody>
      </p:sp>
      <p:sp>
        <p:nvSpPr>
          <p:cNvPr id="21" name="TextBox 20"/>
          <p:cNvSpPr txBox="1"/>
          <p:nvPr/>
        </p:nvSpPr>
        <p:spPr>
          <a:xfrm>
            <a:off x="365760" y="2331720"/>
            <a:ext cx="6400800" cy="320040"/>
          </a:xfrm>
          <a:prstGeom prst="rect">
            <a:avLst/>
          </a:prstGeom>
          <a:noFill/>
        </p:spPr>
        <p:txBody>
          <a:bodyPr wrap="square">
            <a:spAutoFit/>
          </a:bodyPr>
          <a:lstStyle/>
          <a:p>
            <a:pPr algn="l"/>
            <a:r>
              <a:rPr sz="1300" b="1">
                <a:solidFill>
                  <a:srgbClr val="38BDF8"/>
                </a:solidFill>
              </a:rPr>
              <a:t>LLM calls per request (5 claims):</a:t>
            </a:r>
          </a:p>
        </p:txBody>
      </p:sp>
      <p:sp>
        <p:nvSpPr>
          <p:cNvPr id="22" name="Rectangle 21"/>
          <p:cNvSpPr/>
          <p:nvPr/>
        </p:nvSpPr>
        <p:spPr>
          <a:xfrm>
            <a:off x="365760" y="2697480"/>
            <a:ext cx="329184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697480"/>
            <a:ext cx="53035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752344"/>
            <a:ext cx="3154680" cy="292608"/>
          </a:xfrm>
          <a:prstGeom prst="rect">
            <a:avLst/>
          </a:prstGeom>
          <a:noFill/>
        </p:spPr>
        <p:txBody>
          <a:bodyPr wrap="square">
            <a:spAutoFit/>
          </a:bodyPr>
          <a:lstStyle/>
          <a:p>
            <a:pPr algn="l"/>
            <a:r>
              <a:rPr sz="1200" b="1">
                <a:solidFill>
                  <a:srgbClr val="38BDF8"/>
                </a:solidFill>
              </a:rPr>
              <a:t>Claim extraction</a:t>
            </a:r>
          </a:p>
        </p:txBody>
      </p:sp>
      <p:sp>
        <p:nvSpPr>
          <p:cNvPr id="25" name="TextBox 24"/>
          <p:cNvSpPr txBox="1"/>
          <p:nvPr/>
        </p:nvSpPr>
        <p:spPr>
          <a:xfrm>
            <a:off x="3749040" y="2752344"/>
            <a:ext cx="5166360" cy="292608"/>
          </a:xfrm>
          <a:prstGeom prst="rect">
            <a:avLst/>
          </a:prstGeom>
          <a:noFill/>
        </p:spPr>
        <p:txBody>
          <a:bodyPr wrap="square">
            <a:spAutoFit/>
          </a:bodyPr>
          <a:lstStyle/>
          <a:p>
            <a:pPr algn="l"/>
            <a:r>
              <a:rPr sz="1200" b="0">
                <a:solidFill>
                  <a:srgbClr val="CBD5E1"/>
                </a:solidFill>
              </a:rPr>
              <a:t>1 LLM call</a:t>
            </a:r>
          </a:p>
        </p:txBody>
      </p:sp>
      <p:sp>
        <p:nvSpPr>
          <p:cNvPr id="26" name="Rectangle 25"/>
          <p:cNvSpPr/>
          <p:nvPr/>
        </p:nvSpPr>
        <p:spPr>
          <a:xfrm>
            <a:off x="365760" y="3081528"/>
            <a:ext cx="329184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0" y="3081528"/>
            <a:ext cx="530352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136392"/>
            <a:ext cx="3154680" cy="292608"/>
          </a:xfrm>
          <a:prstGeom prst="rect">
            <a:avLst/>
          </a:prstGeom>
          <a:noFill/>
        </p:spPr>
        <p:txBody>
          <a:bodyPr wrap="square">
            <a:spAutoFit/>
          </a:bodyPr>
          <a:lstStyle/>
          <a:p>
            <a:pPr algn="l"/>
            <a:r>
              <a:rPr sz="1200" b="1">
                <a:solidFill>
                  <a:srgbClr val="38BDF8"/>
                </a:solidFill>
              </a:rPr>
              <a:t>Query expansion (5×)</a:t>
            </a:r>
          </a:p>
        </p:txBody>
      </p:sp>
      <p:sp>
        <p:nvSpPr>
          <p:cNvPr id="29" name="TextBox 28"/>
          <p:cNvSpPr txBox="1"/>
          <p:nvPr/>
        </p:nvSpPr>
        <p:spPr>
          <a:xfrm>
            <a:off x="3749040" y="3136392"/>
            <a:ext cx="5166360" cy="292608"/>
          </a:xfrm>
          <a:prstGeom prst="rect">
            <a:avLst/>
          </a:prstGeom>
          <a:noFill/>
        </p:spPr>
        <p:txBody>
          <a:bodyPr wrap="square">
            <a:spAutoFit/>
          </a:bodyPr>
          <a:lstStyle/>
          <a:p>
            <a:pPr algn="l"/>
            <a:r>
              <a:rPr sz="1200" b="0">
                <a:solidFill>
                  <a:srgbClr val="CBD5E1"/>
                </a:solidFill>
              </a:rPr>
              <a:t>5 LLM calls</a:t>
            </a:r>
          </a:p>
        </p:txBody>
      </p:sp>
      <p:sp>
        <p:nvSpPr>
          <p:cNvPr id="30" name="Rectangle 29"/>
          <p:cNvSpPr/>
          <p:nvPr/>
        </p:nvSpPr>
        <p:spPr>
          <a:xfrm>
            <a:off x="365760" y="3465576"/>
            <a:ext cx="329184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0" y="3465576"/>
            <a:ext cx="53035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520440"/>
            <a:ext cx="3154680" cy="292608"/>
          </a:xfrm>
          <a:prstGeom prst="rect">
            <a:avLst/>
          </a:prstGeom>
          <a:noFill/>
        </p:spPr>
        <p:txBody>
          <a:bodyPr wrap="square">
            <a:spAutoFit/>
          </a:bodyPr>
          <a:lstStyle/>
          <a:p>
            <a:pPr algn="l"/>
            <a:r>
              <a:rPr sz="1200" b="1">
                <a:solidFill>
                  <a:srgbClr val="38BDF8"/>
                </a:solidFill>
              </a:rPr>
              <a:t>Batch verification</a:t>
            </a:r>
          </a:p>
        </p:txBody>
      </p:sp>
      <p:sp>
        <p:nvSpPr>
          <p:cNvPr id="33" name="TextBox 32"/>
          <p:cNvSpPr txBox="1"/>
          <p:nvPr/>
        </p:nvSpPr>
        <p:spPr>
          <a:xfrm>
            <a:off x="3749040" y="3520440"/>
            <a:ext cx="5166360" cy="292608"/>
          </a:xfrm>
          <a:prstGeom prst="rect">
            <a:avLst/>
          </a:prstGeom>
          <a:noFill/>
        </p:spPr>
        <p:txBody>
          <a:bodyPr wrap="square">
            <a:spAutoFit/>
          </a:bodyPr>
          <a:lstStyle/>
          <a:p>
            <a:pPr algn="l"/>
            <a:r>
              <a:rPr sz="1200" b="0">
                <a:solidFill>
                  <a:srgbClr val="CBD5E1"/>
                </a:solidFill>
              </a:rPr>
              <a:t>1 LLM call</a:t>
            </a:r>
          </a:p>
        </p:txBody>
      </p:sp>
      <p:sp>
        <p:nvSpPr>
          <p:cNvPr id="34" name="Rectangle 33"/>
          <p:cNvSpPr/>
          <p:nvPr/>
        </p:nvSpPr>
        <p:spPr>
          <a:xfrm>
            <a:off x="365760" y="3849624"/>
            <a:ext cx="329184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0" y="3849624"/>
            <a:ext cx="530352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904488"/>
            <a:ext cx="3154680" cy="292608"/>
          </a:xfrm>
          <a:prstGeom prst="rect">
            <a:avLst/>
          </a:prstGeom>
          <a:noFill/>
        </p:spPr>
        <p:txBody>
          <a:bodyPr wrap="square">
            <a:spAutoFit/>
          </a:bodyPr>
          <a:lstStyle/>
          <a:p>
            <a:pPr algn="l"/>
            <a:r>
              <a:rPr sz="1200" b="1">
                <a:solidFill>
                  <a:srgbClr val="38BDF8"/>
                </a:solidFill>
              </a:rPr>
              <a:t>Self-correction (if any)</a:t>
            </a:r>
          </a:p>
        </p:txBody>
      </p:sp>
      <p:sp>
        <p:nvSpPr>
          <p:cNvPr id="37" name="TextBox 36"/>
          <p:cNvSpPr txBox="1"/>
          <p:nvPr/>
        </p:nvSpPr>
        <p:spPr>
          <a:xfrm>
            <a:off x="3749040" y="3904488"/>
            <a:ext cx="5166360" cy="292608"/>
          </a:xfrm>
          <a:prstGeom prst="rect">
            <a:avLst/>
          </a:prstGeom>
          <a:noFill/>
        </p:spPr>
        <p:txBody>
          <a:bodyPr wrap="square">
            <a:spAutoFit/>
          </a:bodyPr>
          <a:lstStyle/>
          <a:p>
            <a:pPr algn="l"/>
            <a:r>
              <a:rPr sz="1200" b="0">
                <a:solidFill>
                  <a:srgbClr val="CBD5E1"/>
                </a:solidFill>
              </a:rPr>
              <a:t>1 LLM call</a:t>
            </a:r>
          </a:p>
        </p:txBody>
      </p:sp>
      <p:sp>
        <p:nvSpPr>
          <p:cNvPr id="38" name="Rectangle 37"/>
          <p:cNvSpPr/>
          <p:nvPr/>
        </p:nvSpPr>
        <p:spPr>
          <a:xfrm>
            <a:off x="365760" y="4233672"/>
            <a:ext cx="329184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0" y="4233672"/>
            <a:ext cx="53035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288536"/>
            <a:ext cx="3154680" cy="292608"/>
          </a:xfrm>
          <a:prstGeom prst="rect">
            <a:avLst/>
          </a:prstGeom>
          <a:noFill/>
        </p:spPr>
        <p:txBody>
          <a:bodyPr wrap="square">
            <a:spAutoFit/>
          </a:bodyPr>
          <a:lstStyle/>
          <a:p>
            <a:pPr algn="l"/>
            <a:r>
              <a:rPr sz="1200" b="1">
                <a:solidFill>
                  <a:srgbClr val="38BDF8"/>
                </a:solidFill>
              </a:rPr>
              <a:t>Total</a:t>
            </a:r>
          </a:p>
        </p:txBody>
      </p:sp>
      <p:sp>
        <p:nvSpPr>
          <p:cNvPr id="41" name="TextBox 40"/>
          <p:cNvSpPr txBox="1"/>
          <p:nvPr/>
        </p:nvSpPr>
        <p:spPr>
          <a:xfrm>
            <a:off x="3749040" y="4288536"/>
            <a:ext cx="5166360" cy="292608"/>
          </a:xfrm>
          <a:prstGeom prst="rect">
            <a:avLst/>
          </a:prstGeom>
          <a:noFill/>
        </p:spPr>
        <p:txBody>
          <a:bodyPr wrap="square">
            <a:spAutoFit/>
          </a:bodyPr>
          <a:lstStyle/>
          <a:p>
            <a:pPr algn="l"/>
            <a:r>
              <a:rPr sz="1200" b="0">
                <a:solidFill>
                  <a:srgbClr val="CBD5E1"/>
                </a:solidFill>
              </a:rPr>
              <a:t>~8 calls → ~9s on NVIDIA NIM free tier</a:t>
            </a:r>
          </a:p>
        </p:txBody>
      </p:sp>
      <p:sp>
        <p:nvSpPr>
          <p:cNvPr id="42" name="TextBox 41"/>
          <p:cNvSpPr txBox="1"/>
          <p:nvPr/>
        </p:nvSpPr>
        <p:spPr>
          <a:xfrm>
            <a:off x="6583680" y="2331720"/>
            <a:ext cx="5486400" cy="320040"/>
          </a:xfrm>
          <a:prstGeom prst="rect">
            <a:avLst/>
          </a:prstGeom>
          <a:noFill/>
        </p:spPr>
        <p:txBody>
          <a:bodyPr wrap="square">
            <a:spAutoFit/>
          </a:bodyPr>
          <a:lstStyle/>
          <a:p>
            <a:pPr algn="l"/>
            <a:r>
              <a:rPr sz="1300" b="1">
                <a:solidFill>
                  <a:srgbClr val="38BDF8"/>
                </a:solidFill>
              </a:rPr>
              <a:t>Evaluation suite (eval_cases.yaml):</a:t>
            </a:r>
          </a:p>
        </p:txBody>
      </p:sp>
      <p:sp>
        <p:nvSpPr>
          <p:cNvPr id="43" name="Rectangle 42"/>
          <p:cNvSpPr/>
          <p:nvPr/>
        </p:nvSpPr>
        <p:spPr>
          <a:xfrm>
            <a:off x="6583680" y="2697480"/>
            <a:ext cx="25603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144000" y="2697480"/>
            <a:ext cx="33832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2752344"/>
            <a:ext cx="2423160" cy="292608"/>
          </a:xfrm>
          <a:prstGeom prst="rect">
            <a:avLst/>
          </a:prstGeom>
          <a:noFill/>
        </p:spPr>
        <p:txBody>
          <a:bodyPr wrap="square">
            <a:spAutoFit/>
          </a:bodyPr>
          <a:lstStyle/>
          <a:p>
            <a:pPr algn="l"/>
            <a:r>
              <a:rPr sz="1200" b="1">
                <a:solidFill>
                  <a:srgbClr val="38BDF8"/>
                </a:solidFill>
              </a:rPr>
              <a:t>Total test cases</a:t>
            </a:r>
          </a:p>
        </p:txBody>
      </p:sp>
      <p:sp>
        <p:nvSpPr>
          <p:cNvPr id="46" name="TextBox 45"/>
          <p:cNvSpPr txBox="1"/>
          <p:nvPr/>
        </p:nvSpPr>
        <p:spPr>
          <a:xfrm>
            <a:off x="9235440" y="2752344"/>
            <a:ext cx="3246120" cy="292608"/>
          </a:xfrm>
          <a:prstGeom prst="rect">
            <a:avLst/>
          </a:prstGeom>
          <a:noFill/>
        </p:spPr>
        <p:txBody>
          <a:bodyPr wrap="square">
            <a:spAutoFit/>
          </a:bodyPr>
          <a:lstStyle/>
          <a:p>
            <a:pPr algn="l"/>
            <a:r>
              <a:rPr sz="1200" b="0">
                <a:solidFill>
                  <a:srgbClr val="CBD5E1"/>
                </a:solidFill>
              </a:rPr>
              <a:t>26 handcrafted</a:t>
            </a:r>
          </a:p>
        </p:txBody>
      </p:sp>
      <p:sp>
        <p:nvSpPr>
          <p:cNvPr id="47" name="Rectangle 46"/>
          <p:cNvSpPr/>
          <p:nvPr/>
        </p:nvSpPr>
        <p:spPr>
          <a:xfrm>
            <a:off x="6583680" y="3081528"/>
            <a:ext cx="256032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144000" y="3081528"/>
            <a:ext cx="338328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0" y="3136392"/>
            <a:ext cx="2423160" cy="292608"/>
          </a:xfrm>
          <a:prstGeom prst="rect">
            <a:avLst/>
          </a:prstGeom>
          <a:noFill/>
        </p:spPr>
        <p:txBody>
          <a:bodyPr wrap="square">
            <a:spAutoFit/>
          </a:bodyPr>
          <a:lstStyle/>
          <a:p>
            <a:pPr algn="l"/>
            <a:r>
              <a:rPr sz="1200" b="1">
                <a:solidFill>
                  <a:srgbClr val="38BDF8"/>
                </a:solidFill>
              </a:rPr>
              <a:t>MEDICAL domain</a:t>
            </a:r>
          </a:p>
        </p:txBody>
      </p:sp>
      <p:sp>
        <p:nvSpPr>
          <p:cNvPr id="50" name="TextBox 49"/>
          <p:cNvSpPr txBox="1"/>
          <p:nvPr/>
        </p:nvSpPr>
        <p:spPr>
          <a:xfrm>
            <a:off x="9235440" y="3136392"/>
            <a:ext cx="3246120" cy="292608"/>
          </a:xfrm>
          <a:prstGeom prst="rect">
            <a:avLst/>
          </a:prstGeom>
          <a:noFill/>
        </p:spPr>
        <p:txBody>
          <a:bodyPr wrap="square">
            <a:spAutoFit/>
          </a:bodyPr>
          <a:lstStyle/>
          <a:p>
            <a:pPr algn="l"/>
            <a:r>
              <a:rPr sz="1200" b="0">
                <a:solidFill>
                  <a:srgbClr val="CBD5E1"/>
                </a:solidFill>
              </a:rPr>
              <a:t>Ibuprofen, drug dosages, diagnoses</a:t>
            </a:r>
          </a:p>
        </p:txBody>
      </p:sp>
      <p:sp>
        <p:nvSpPr>
          <p:cNvPr id="51" name="Rectangle 50"/>
          <p:cNvSpPr/>
          <p:nvPr/>
        </p:nvSpPr>
        <p:spPr>
          <a:xfrm>
            <a:off x="6583680" y="3465576"/>
            <a:ext cx="25603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144000" y="3465576"/>
            <a:ext cx="33832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0" y="3520440"/>
            <a:ext cx="2423160" cy="292608"/>
          </a:xfrm>
          <a:prstGeom prst="rect">
            <a:avLst/>
          </a:prstGeom>
          <a:noFill/>
        </p:spPr>
        <p:txBody>
          <a:bodyPr wrap="square">
            <a:spAutoFit/>
          </a:bodyPr>
          <a:lstStyle/>
          <a:p>
            <a:pPr algn="l"/>
            <a:r>
              <a:rPr sz="1200" b="1">
                <a:solidFill>
                  <a:srgbClr val="38BDF8"/>
                </a:solidFill>
              </a:rPr>
              <a:t>LEGAL domain</a:t>
            </a:r>
          </a:p>
        </p:txBody>
      </p:sp>
      <p:sp>
        <p:nvSpPr>
          <p:cNvPr id="54" name="TextBox 53"/>
          <p:cNvSpPr txBox="1"/>
          <p:nvPr/>
        </p:nvSpPr>
        <p:spPr>
          <a:xfrm>
            <a:off x="9235440" y="3520440"/>
            <a:ext cx="3246120" cy="292608"/>
          </a:xfrm>
          <a:prstGeom prst="rect">
            <a:avLst/>
          </a:prstGeom>
          <a:noFill/>
        </p:spPr>
        <p:txBody>
          <a:bodyPr wrap="square">
            <a:spAutoFit/>
          </a:bodyPr>
          <a:lstStyle/>
          <a:p>
            <a:pPr algn="l"/>
            <a:r>
              <a:rPr sz="1200" b="0">
                <a:solidFill>
                  <a:srgbClr val="CBD5E1"/>
                </a:solidFill>
              </a:rPr>
              <a:t>GDPR dates, Miranda rights, NDA</a:t>
            </a:r>
          </a:p>
        </p:txBody>
      </p:sp>
      <p:sp>
        <p:nvSpPr>
          <p:cNvPr id="55" name="Rectangle 54"/>
          <p:cNvSpPr/>
          <p:nvPr/>
        </p:nvSpPr>
        <p:spPr>
          <a:xfrm>
            <a:off x="6583680" y="3849624"/>
            <a:ext cx="256032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144000" y="3849624"/>
            <a:ext cx="338328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0" y="3904488"/>
            <a:ext cx="2423160" cy="292608"/>
          </a:xfrm>
          <a:prstGeom prst="rect">
            <a:avLst/>
          </a:prstGeom>
          <a:noFill/>
        </p:spPr>
        <p:txBody>
          <a:bodyPr wrap="square">
            <a:spAutoFit/>
          </a:bodyPr>
          <a:lstStyle/>
          <a:p>
            <a:pPr algn="l"/>
            <a:r>
              <a:rPr sz="1200" b="1">
                <a:solidFill>
                  <a:srgbClr val="38BDF8"/>
                </a:solidFill>
              </a:rPr>
              <a:t>FINANCIAL domain</a:t>
            </a:r>
          </a:p>
        </p:txBody>
      </p:sp>
      <p:sp>
        <p:nvSpPr>
          <p:cNvPr id="58" name="TextBox 57"/>
          <p:cNvSpPr txBox="1"/>
          <p:nvPr/>
        </p:nvSpPr>
        <p:spPr>
          <a:xfrm>
            <a:off x="9235440" y="3904488"/>
            <a:ext cx="3246120" cy="292608"/>
          </a:xfrm>
          <a:prstGeom prst="rect">
            <a:avLst/>
          </a:prstGeom>
          <a:noFill/>
        </p:spPr>
        <p:txBody>
          <a:bodyPr wrap="square">
            <a:spAutoFit/>
          </a:bodyPr>
          <a:lstStyle/>
          <a:p>
            <a:pPr algn="l"/>
            <a:r>
              <a:rPr sz="1200" b="0">
                <a:solidFill>
                  <a:srgbClr val="CBD5E1"/>
                </a:solidFill>
              </a:rPr>
              <a:t>FDIC limits, capital gains, Fed</a:t>
            </a:r>
          </a:p>
        </p:txBody>
      </p:sp>
      <p:sp>
        <p:nvSpPr>
          <p:cNvPr id="59" name="Rectangle 58"/>
          <p:cNvSpPr/>
          <p:nvPr/>
        </p:nvSpPr>
        <p:spPr>
          <a:xfrm>
            <a:off x="6583680" y="4233672"/>
            <a:ext cx="256032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144000" y="4233672"/>
            <a:ext cx="3383280" cy="384048"/>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0" y="4288536"/>
            <a:ext cx="2423160" cy="292608"/>
          </a:xfrm>
          <a:prstGeom prst="rect">
            <a:avLst/>
          </a:prstGeom>
          <a:noFill/>
        </p:spPr>
        <p:txBody>
          <a:bodyPr wrap="square">
            <a:spAutoFit/>
          </a:bodyPr>
          <a:lstStyle/>
          <a:p>
            <a:pPr algn="l"/>
            <a:r>
              <a:rPr sz="1200" b="1">
                <a:solidFill>
                  <a:srgbClr val="38BDF8"/>
                </a:solidFill>
              </a:rPr>
              <a:t>GENERAL domain</a:t>
            </a:r>
          </a:p>
        </p:txBody>
      </p:sp>
      <p:sp>
        <p:nvSpPr>
          <p:cNvPr id="62" name="TextBox 61"/>
          <p:cNvSpPr txBox="1"/>
          <p:nvPr/>
        </p:nvSpPr>
        <p:spPr>
          <a:xfrm>
            <a:off x="9235440" y="4288536"/>
            <a:ext cx="3246120" cy="292608"/>
          </a:xfrm>
          <a:prstGeom prst="rect">
            <a:avLst/>
          </a:prstGeom>
          <a:noFill/>
        </p:spPr>
        <p:txBody>
          <a:bodyPr wrap="square">
            <a:spAutoFit/>
          </a:bodyPr>
          <a:lstStyle/>
          <a:p>
            <a:pPr algn="l"/>
            <a:r>
              <a:rPr sz="1200" b="0">
                <a:solidFill>
                  <a:srgbClr val="CBD5E1"/>
                </a:solidFill>
              </a:rPr>
              <a:t>Wrong birthplaces, fake dates</a:t>
            </a:r>
          </a:p>
        </p:txBody>
      </p:sp>
      <p:sp>
        <p:nvSpPr>
          <p:cNvPr id="63" name="Rectangle 62"/>
          <p:cNvSpPr/>
          <p:nvPr/>
        </p:nvSpPr>
        <p:spPr>
          <a:xfrm>
            <a:off x="6583680" y="4617720"/>
            <a:ext cx="256032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144000" y="4617720"/>
            <a:ext cx="3383280" cy="384048"/>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75120" y="4672584"/>
            <a:ext cx="2423160" cy="292608"/>
          </a:xfrm>
          <a:prstGeom prst="rect">
            <a:avLst/>
          </a:prstGeom>
          <a:noFill/>
        </p:spPr>
        <p:txBody>
          <a:bodyPr wrap="square">
            <a:spAutoFit/>
          </a:bodyPr>
          <a:lstStyle/>
          <a:p>
            <a:pPr algn="l"/>
            <a:r>
              <a:rPr sz="1200" b="1">
                <a:solidFill>
                  <a:srgbClr val="38BDF8"/>
                </a:solidFill>
              </a:rPr>
              <a:t>Evaluation command</a:t>
            </a:r>
          </a:p>
        </p:txBody>
      </p:sp>
      <p:sp>
        <p:nvSpPr>
          <p:cNvPr id="66" name="TextBox 65"/>
          <p:cNvSpPr txBox="1"/>
          <p:nvPr/>
        </p:nvSpPr>
        <p:spPr>
          <a:xfrm>
            <a:off x="9235440" y="4672584"/>
            <a:ext cx="3246120" cy="292608"/>
          </a:xfrm>
          <a:prstGeom prst="rect">
            <a:avLst/>
          </a:prstGeom>
          <a:noFill/>
        </p:spPr>
        <p:txBody>
          <a:bodyPr wrap="square">
            <a:spAutoFit/>
          </a:bodyPr>
          <a:lstStyle/>
          <a:p>
            <a:pPr algn="l"/>
            <a:r>
              <a:rPr sz="1200" b="0">
                <a:solidFill>
                  <a:srgbClr val="CBD5E1"/>
                </a:solidFill>
              </a:rPr>
              <a:t>python evaluate.py</a:t>
            </a:r>
          </a:p>
        </p:txBody>
      </p:sp>
      <p:sp>
        <p:nvSpPr>
          <p:cNvPr id="67" name="TextBox 66"/>
          <p:cNvSpPr txBox="1"/>
          <p:nvPr/>
        </p:nvSpPr>
        <p:spPr>
          <a:xfrm>
            <a:off x="365760" y="5440680"/>
            <a:ext cx="11430000" cy="347472"/>
          </a:xfrm>
          <a:prstGeom prst="rect">
            <a:avLst/>
          </a:prstGeom>
          <a:noFill/>
        </p:spPr>
        <p:txBody>
          <a:bodyPr wrap="square">
            <a:spAutoFit/>
          </a:bodyPr>
          <a:lstStyle/>
          <a:p>
            <a:pPr algn="l"/>
            <a:r>
              <a:rPr sz="1300" b="0">
                <a:solidFill>
                  <a:srgbClr val="FBBF24"/>
                </a:solidFill>
              </a:rPr>
              <a:t>Cache speed-up: Second identical request served in &lt;1ms (semantic cache hit — no LLM call).</a:t>
            </a:r>
          </a:p>
        </p:txBody>
      </p:sp>
      <p:sp>
        <p:nvSpPr>
          <p:cNvPr id="68" name="TextBox 67"/>
          <p:cNvSpPr txBox="1"/>
          <p:nvPr/>
        </p:nvSpPr>
        <p:spPr>
          <a:xfrm>
            <a:off x="365760" y="5852160"/>
            <a:ext cx="11430000" cy="347472"/>
          </a:xfrm>
          <a:prstGeom prst="rect">
            <a:avLst/>
          </a:prstGeom>
          <a:noFill/>
        </p:spPr>
        <p:txBody>
          <a:bodyPr wrap="square">
            <a:spAutoFit/>
          </a:bodyPr>
          <a:lstStyle/>
          <a:p>
            <a:pPr algn="l"/>
            <a:r>
              <a:rPr sz="1200" b="0">
                <a:solidFill>
                  <a:srgbClr val="94A3B8"/>
                </a:solidFill>
              </a:rPr>
              <a:t>Speed options: Switch to NVIDIA NIM (~10× faster) | Reduce MAX_CLAIMS=3 | Disable MULTI_QUERY | Use smaller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10  API Reference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OpenAI-compatible + custom verification endpoints</a:t>
            </a:r>
          </a:p>
        </p:txBody>
      </p:sp>
      <p:sp>
        <p:nvSpPr>
          <p:cNvPr id="6" name="Rectangle 5"/>
          <p:cNvSpPr/>
          <p:nvPr/>
        </p:nvSpPr>
        <p:spPr>
          <a:xfrm>
            <a:off x="365760" y="137160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0" y="137160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426464"/>
            <a:ext cx="3154680" cy="274320"/>
          </a:xfrm>
          <a:prstGeom prst="rect">
            <a:avLst/>
          </a:prstGeom>
          <a:noFill/>
        </p:spPr>
        <p:txBody>
          <a:bodyPr wrap="square">
            <a:spAutoFit/>
          </a:bodyPr>
          <a:lstStyle/>
          <a:p>
            <a:pPr algn="l"/>
            <a:r>
              <a:rPr sz="1200" b="1">
                <a:solidFill>
                  <a:srgbClr val="38BDF8"/>
                </a:solidFill>
              </a:rPr>
              <a:t>POST /verify/stream</a:t>
            </a:r>
          </a:p>
        </p:txBody>
      </p:sp>
      <p:sp>
        <p:nvSpPr>
          <p:cNvPr id="9" name="TextBox 8"/>
          <p:cNvSpPr txBox="1"/>
          <p:nvPr/>
        </p:nvSpPr>
        <p:spPr>
          <a:xfrm>
            <a:off x="3749040" y="1426464"/>
            <a:ext cx="8092440" cy="274320"/>
          </a:xfrm>
          <a:prstGeom prst="rect">
            <a:avLst/>
          </a:prstGeom>
          <a:noFill/>
        </p:spPr>
        <p:txBody>
          <a:bodyPr wrap="square">
            <a:spAutoFit/>
          </a:bodyPr>
          <a:lstStyle/>
          <a:p>
            <a:pPr algn="l"/>
            <a:r>
              <a:rPr sz="1200" b="0">
                <a:solidFill>
                  <a:srgbClr val="CBD5E1"/>
                </a:solidFill>
              </a:rPr>
              <a:t>SSE — stream claim-by-claim results in real time (primary endpoint).</a:t>
            </a:r>
          </a:p>
        </p:txBody>
      </p:sp>
      <p:sp>
        <p:nvSpPr>
          <p:cNvPr id="10" name="Rectangle 9"/>
          <p:cNvSpPr/>
          <p:nvPr/>
        </p:nvSpPr>
        <p:spPr>
          <a:xfrm>
            <a:off x="365760" y="173736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0" y="173736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792224"/>
            <a:ext cx="3154680" cy="274320"/>
          </a:xfrm>
          <a:prstGeom prst="rect">
            <a:avLst/>
          </a:prstGeom>
          <a:noFill/>
        </p:spPr>
        <p:txBody>
          <a:bodyPr wrap="square">
            <a:spAutoFit/>
          </a:bodyPr>
          <a:lstStyle/>
          <a:p>
            <a:pPr algn="l"/>
            <a:r>
              <a:rPr sz="1200" b="1">
                <a:solidFill>
                  <a:srgbClr val="38BDF8"/>
                </a:solidFill>
              </a:rPr>
              <a:t>POST /verify</a:t>
            </a:r>
          </a:p>
        </p:txBody>
      </p:sp>
      <p:sp>
        <p:nvSpPr>
          <p:cNvPr id="13" name="TextBox 12"/>
          <p:cNvSpPr txBox="1"/>
          <p:nvPr/>
        </p:nvSpPr>
        <p:spPr>
          <a:xfrm>
            <a:off x="3749040" y="1792224"/>
            <a:ext cx="8092440" cy="274320"/>
          </a:xfrm>
          <a:prstGeom prst="rect">
            <a:avLst/>
          </a:prstGeom>
          <a:noFill/>
        </p:spPr>
        <p:txBody>
          <a:bodyPr wrap="square">
            <a:spAutoFit/>
          </a:bodyPr>
          <a:lstStyle/>
          <a:p>
            <a:pPr algn="l"/>
            <a:r>
              <a:rPr sz="1200" b="0">
                <a:solidFill>
                  <a:srgbClr val="CBD5E1"/>
                </a:solidFill>
              </a:rPr>
              <a:t>Sync — returns complete JSON result after full pipeline runs.</a:t>
            </a:r>
          </a:p>
        </p:txBody>
      </p:sp>
      <p:sp>
        <p:nvSpPr>
          <p:cNvPr id="14" name="Rectangle 13"/>
          <p:cNvSpPr/>
          <p:nvPr/>
        </p:nvSpPr>
        <p:spPr>
          <a:xfrm>
            <a:off x="365760" y="210312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210312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157984"/>
            <a:ext cx="3154680" cy="274320"/>
          </a:xfrm>
          <a:prstGeom prst="rect">
            <a:avLst/>
          </a:prstGeom>
          <a:noFill/>
        </p:spPr>
        <p:txBody>
          <a:bodyPr wrap="square">
            <a:spAutoFit/>
          </a:bodyPr>
          <a:lstStyle/>
          <a:p>
            <a:pPr algn="l"/>
            <a:r>
              <a:rPr sz="1200" b="1">
                <a:solidFill>
                  <a:srgbClr val="38BDF8"/>
                </a:solidFill>
              </a:rPr>
              <a:t>POST /v1/chat/completions</a:t>
            </a:r>
          </a:p>
        </p:txBody>
      </p:sp>
      <p:sp>
        <p:nvSpPr>
          <p:cNvPr id="17" name="TextBox 16"/>
          <p:cNvSpPr txBox="1"/>
          <p:nvPr/>
        </p:nvSpPr>
        <p:spPr>
          <a:xfrm>
            <a:off x="3749040" y="2157984"/>
            <a:ext cx="8092440" cy="274320"/>
          </a:xfrm>
          <a:prstGeom prst="rect">
            <a:avLst/>
          </a:prstGeom>
          <a:noFill/>
        </p:spPr>
        <p:txBody>
          <a:bodyPr wrap="square">
            <a:spAutoFit/>
          </a:bodyPr>
          <a:lstStyle/>
          <a:p>
            <a:pPr algn="l"/>
            <a:r>
              <a:rPr sz="1200" b="0">
                <a:solidFill>
                  <a:srgbClr val="CBD5E1"/>
                </a:solidFill>
              </a:rPr>
              <a:t>OpenAI-compatible proxy — drop-in replacement for any OpenAI client.</a:t>
            </a:r>
          </a:p>
        </p:txBody>
      </p:sp>
      <p:sp>
        <p:nvSpPr>
          <p:cNvPr id="18" name="Rectangle 17"/>
          <p:cNvSpPr/>
          <p:nvPr/>
        </p:nvSpPr>
        <p:spPr>
          <a:xfrm>
            <a:off x="365760" y="246888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0" y="246888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523744"/>
            <a:ext cx="3154680" cy="274320"/>
          </a:xfrm>
          <a:prstGeom prst="rect">
            <a:avLst/>
          </a:prstGeom>
          <a:noFill/>
        </p:spPr>
        <p:txBody>
          <a:bodyPr wrap="square">
            <a:spAutoFit/>
          </a:bodyPr>
          <a:lstStyle/>
          <a:p>
            <a:pPr algn="l"/>
            <a:r>
              <a:rPr sz="1200" b="1">
                <a:solidFill>
                  <a:srgbClr val="38BDF8"/>
                </a:solidFill>
              </a:rPr>
              <a:t>POST /v1/messages</a:t>
            </a:r>
          </a:p>
        </p:txBody>
      </p:sp>
      <p:sp>
        <p:nvSpPr>
          <p:cNvPr id="21" name="TextBox 20"/>
          <p:cNvSpPr txBox="1"/>
          <p:nvPr/>
        </p:nvSpPr>
        <p:spPr>
          <a:xfrm>
            <a:off x="3749040" y="2523744"/>
            <a:ext cx="8092440" cy="274320"/>
          </a:xfrm>
          <a:prstGeom prst="rect">
            <a:avLst/>
          </a:prstGeom>
          <a:noFill/>
        </p:spPr>
        <p:txBody>
          <a:bodyPr wrap="square">
            <a:spAutoFit/>
          </a:bodyPr>
          <a:lstStyle/>
          <a:p>
            <a:pPr algn="l"/>
            <a:r>
              <a:rPr sz="1200" b="0">
                <a:solidFill>
                  <a:srgbClr val="CBD5E1"/>
                </a:solidFill>
              </a:rPr>
              <a:t>Anthropic-compatible proxy — hallucination detection on LLM output.</a:t>
            </a:r>
          </a:p>
        </p:txBody>
      </p:sp>
      <p:sp>
        <p:nvSpPr>
          <p:cNvPr id="22" name="Rectangle 21"/>
          <p:cNvSpPr/>
          <p:nvPr/>
        </p:nvSpPr>
        <p:spPr>
          <a:xfrm>
            <a:off x="365760" y="283464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0" y="283464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2889504"/>
            <a:ext cx="3154680" cy="274320"/>
          </a:xfrm>
          <a:prstGeom prst="rect">
            <a:avLst/>
          </a:prstGeom>
          <a:noFill/>
        </p:spPr>
        <p:txBody>
          <a:bodyPr wrap="square">
            <a:spAutoFit/>
          </a:bodyPr>
          <a:lstStyle/>
          <a:p>
            <a:pPr algn="l"/>
            <a:r>
              <a:rPr sz="1200" b="1">
                <a:solidFill>
                  <a:srgbClr val="38BDF8"/>
                </a:solidFill>
              </a:rPr>
              <a:t>GET  /health</a:t>
            </a:r>
          </a:p>
        </p:txBody>
      </p:sp>
      <p:sp>
        <p:nvSpPr>
          <p:cNvPr id="25" name="TextBox 24"/>
          <p:cNvSpPr txBox="1"/>
          <p:nvPr/>
        </p:nvSpPr>
        <p:spPr>
          <a:xfrm>
            <a:off x="3749040" y="2889504"/>
            <a:ext cx="8092440" cy="274320"/>
          </a:xfrm>
          <a:prstGeom prst="rect">
            <a:avLst/>
          </a:prstGeom>
          <a:noFill/>
        </p:spPr>
        <p:txBody>
          <a:bodyPr wrap="square">
            <a:spAutoFit/>
          </a:bodyPr>
          <a:lstStyle/>
          <a:p>
            <a:pPr algn="l"/>
            <a:r>
              <a:rPr sz="1200" b="0">
                <a:solidFill>
                  <a:srgbClr val="CBD5E1"/>
                </a:solidFill>
              </a:rPr>
              <a:t>System health: LLM reachability, KB chunks, cache stats, audit totals.</a:t>
            </a:r>
          </a:p>
        </p:txBody>
      </p:sp>
      <p:sp>
        <p:nvSpPr>
          <p:cNvPr id="26" name="Rectangle 25"/>
          <p:cNvSpPr/>
          <p:nvPr/>
        </p:nvSpPr>
        <p:spPr>
          <a:xfrm>
            <a:off x="365760" y="320040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0" y="320040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255264"/>
            <a:ext cx="3154680" cy="274320"/>
          </a:xfrm>
          <a:prstGeom prst="rect">
            <a:avLst/>
          </a:prstGeom>
          <a:noFill/>
        </p:spPr>
        <p:txBody>
          <a:bodyPr wrap="square">
            <a:spAutoFit/>
          </a:bodyPr>
          <a:lstStyle/>
          <a:p>
            <a:pPr algn="l"/>
            <a:r>
              <a:rPr sz="1200" b="1">
                <a:solidFill>
                  <a:srgbClr val="38BDF8"/>
                </a:solidFill>
              </a:rPr>
              <a:t>GET  /audit/recent?n=50</a:t>
            </a:r>
          </a:p>
        </p:txBody>
      </p:sp>
      <p:sp>
        <p:nvSpPr>
          <p:cNvPr id="29" name="TextBox 28"/>
          <p:cNvSpPr txBox="1"/>
          <p:nvPr/>
        </p:nvSpPr>
        <p:spPr>
          <a:xfrm>
            <a:off x="3749040" y="3255264"/>
            <a:ext cx="8092440" cy="274320"/>
          </a:xfrm>
          <a:prstGeom prst="rect">
            <a:avLst/>
          </a:prstGeom>
          <a:noFill/>
        </p:spPr>
        <p:txBody>
          <a:bodyPr wrap="square">
            <a:spAutoFit/>
          </a:bodyPr>
          <a:lstStyle/>
          <a:p>
            <a:pPr algn="l"/>
            <a:r>
              <a:rPr sz="1200" b="0">
                <a:solidFill>
                  <a:srgbClr val="CBD5E1"/>
                </a:solidFill>
              </a:rPr>
              <a:t>Last N audit records with full claim breakdown, timestamps, confidence.</a:t>
            </a:r>
          </a:p>
        </p:txBody>
      </p:sp>
      <p:sp>
        <p:nvSpPr>
          <p:cNvPr id="30" name="Rectangle 29"/>
          <p:cNvSpPr/>
          <p:nvPr/>
        </p:nvSpPr>
        <p:spPr>
          <a:xfrm>
            <a:off x="365760" y="356616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0" y="356616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3621024"/>
            <a:ext cx="3154680" cy="274320"/>
          </a:xfrm>
          <a:prstGeom prst="rect">
            <a:avLst/>
          </a:prstGeom>
          <a:noFill/>
        </p:spPr>
        <p:txBody>
          <a:bodyPr wrap="square">
            <a:spAutoFit/>
          </a:bodyPr>
          <a:lstStyle/>
          <a:p>
            <a:pPr algn="l"/>
            <a:r>
              <a:rPr sz="1200" b="1">
                <a:solidFill>
                  <a:srgbClr val="38BDF8"/>
                </a:solidFill>
              </a:rPr>
              <a:t>GET  /audit/stats</a:t>
            </a:r>
          </a:p>
        </p:txBody>
      </p:sp>
      <p:sp>
        <p:nvSpPr>
          <p:cNvPr id="33" name="TextBox 32"/>
          <p:cNvSpPr txBox="1"/>
          <p:nvPr/>
        </p:nvSpPr>
        <p:spPr>
          <a:xfrm>
            <a:off x="3749040" y="3621024"/>
            <a:ext cx="8092440" cy="274320"/>
          </a:xfrm>
          <a:prstGeom prst="rect">
            <a:avLst/>
          </a:prstGeom>
          <a:noFill/>
        </p:spPr>
        <p:txBody>
          <a:bodyPr wrap="square">
            <a:spAutoFit/>
          </a:bodyPr>
          <a:lstStyle/>
          <a:p>
            <a:pPr algn="l"/>
            <a:r>
              <a:rPr sz="1200" b="0">
                <a:solidFill>
                  <a:srgbClr val="CBD5E1"/>
                </a:solidFill>
              </a:rPr>
              <a:t>Aggregates: total verified, flagged, blocked, corrected, avg confidence.</a:t>
            </a:r>
          </a:p>
        </p:txBody>
      </p:sp>
      <p:sp>
        <p:nvSpPr>
          <p:cNvPr id="34" name="Rectangle 33"/>
          <p:cNvSpPr/>
          <p:nvPr/>
        </p:nvSpPr>
        <p:spPr>
          <a:xfrm>
            <a:off x="365760" y="393192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0" y="393192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986784"/>
            <a:ext cx="3154680" cy="274320"/>
          </a:xfrm>
          <a:prstGeom prst="rect">
            <a:avLst/>
          </a:prstGeom>
          <a:noFill/>
        </p:spPr>
        <p:txBody>
          <a:bodyPr wrap="square">
            <a:spAutoFit/>
          </a:bodyPr>
          <a:lstStyle/>
          <a:p>
            <a:pPr algn="l"/>
            <a:r>
              <a:rPr sz="1200" b="1">
                <a:solidFill>
                  <a:srgbClr val="38BDF8"/>
                </a:solidFill>
              </a:rPr>
              <a:t>POST /kb/ingest</a:t>
            </a:r>
          </a:p>
        </p:txBody>
      </p:sp>
      <p:sp>
        <p:nvSpPr>
          <p:cNvPr id="37" name="TextBox 36"/>
          <p:cNvSpPr txBox="1"/>
          <p:nvPr/>
        </p:nvSpPr>
        <p:spPr>
          <a:xfrm>
            <a:off x="3749040" y="3986784"/>
            <a:ext cx="8092440" cy="274320"/>
          </a:xfrm>
          <a:prstGeom prst="rect">
            <a:avLst/>
          </a:prstGeom>
          <a:noFill/>
        </p:spPr>
        <p:txBody>
          <a:bodyPr wrap="square">
            <a:spAutoFit/>
          </a:bodyPr>
          <a:lstStyle/>
          <a:p>
            <a:pPr algn="l"/>
            <a:r>
              <a:rPr sz="1200" b="0">
                <a:solidFill>
                  <a:srgbClr val="CBD5E1"/>
                </a:solidFill>
              </a:rPr>
              <a:t>Add text/URL to KB (admin key required). Auto-chunks and vector-indexes.</a:t>
            </a:r>
          </a:p>
        </p:txBody>
      </p:sp>
      <p:sp>
        <p:nvSpPr>
          <p:cNvPr id="38" name="Rectangle 37"/>
          <p:cNvSpPr/>
          <p:nvPr/>
        </p:nvSpPr>
        <p:spPr>
          <a:xfrm>
            <a:off x="365760" y="429768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0" y="429768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4352544"/>
            <a:ext cx="3154680" cy="274320"/>
          </a:xfrm>
          <a:prstGeom prst="rect">
            <a:avLst/>
          </a:prstGeom>
          <a:noFill/>
        </p:spPr>
        <p:txBody>
          <a:bodyPr wrap="square">
            <a:spAutoFit/>
          </a:bodyPr>
          <a:lstStyle/>
          <a:p>
            <a:pPr algn="l"/>
            <a:r>
              <a:rPr sz="1200" b="1">
                <a:solidFill>
                  <a:srgbClr val="38BDF8"/>
                </a:solidFill>
              </a:rPr>
              <a:t>POST /kb/ingest/wikipedia</a:t>
            </a:r>
          </a:p>
        </p:txBody>
      </p:sp>
      <p:sp>
        <p:nvSpPr>
          <p:cNvPr id="41" name="TextBox 40"/>
          <p:cNvSpPr txBox="1"/>
          <p:nvPr/>
        </p:nvSpPr>
        <p:spPr>
          <a:xfrm>
            <a:off x="3749040" y="4352544"/>
            <a:ext cx="8092440" cy="274320"/>
          </a:xfrm>
          <a:prstGeom prst="rect">
            <a:avLst/>
          </a:prstGeom>
          <a:noFill/>
        </p:spPr>
        <p:txBody>
          <a:bodyPr wrap="square">
            <a:spAutoFit/>
          </a:bodyPr>
          <a:lstStyle/>
          <a:p>
            <a:pPr algn="l"/>
            <a:r>
              <a:rPr sz="1200" b="0">
                <a:solidFill>
                  <a:srgbClr val="CBD5E1"/>
                </a:solidFill>
              </a:rPr>
              <a:t>Fetch + chunk + index a Wikipedia article by topic name.</a:t>
            </a:r>
          </a:p>
        </p:txBody>
      </p:sp>
      <p:sp>
        <p:nvSpPr>
          <p:cNvPr id="42" name="Rectangle 41"/>
          <p:cNvSpPr/>
          <p:nvPr/>
        </p:nvSpPr>
        <p:spPr>
          <a:xfrm>
            <a:off x="365760" y="466344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0" y="466344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4718304"/>
            <a:ext cx="3154680" cy="274320"/>
          </a:xfrm>
          <a:prstGeom prst="rect">
            <a:avLst/>
          </a:prstGeom>
          <a:noFill/>
        </p:spPr>
        <p:txBody>
          <a:bodyPr wrap="square">
            <a:spAutoFit/>
          </a:bodyPr>
          <a:lstStyle/>
          <a:p>
            <a:pPr algn="l"/>
            <a:r>
              <a:rPr sz="1200" b="1">
                <a:solidFill>
                  <a:srgbClr val="38BDF8"/>
                </a:solidFill>
              </a:rPr>
              <a:t>GET  /kb/documents</a:t>
            </a:r>
          </a:p>
        </p:txBody>
      </p:sp>
      <p:sp>
        <p:nvSpPr>
          <p:cNvPr id="45" name="TextBox 44"/>
          <p:cNvSpPr txBox="1"/>
          <p:nvPr/>
        </p:nvSpPr>
        <p:spPr>
          <a:xfrm>
            <a:off x="3749040" y="4718304"/>
            <a:ext cx="8092440" cy="274320"/>
          </a:xfrm>
          <a:prstGeom prst="rect">
            <a:avLst/>
          </a:prstGeom>
          <a:noFill/>
        </p:spPr>
        <p:txBody>
          <a:bodyPr wrap="square">
            <a:spAutoFit/>
          </a:bodyPr>
          <a:lstStyle/>
          <a:p>
            <a:pPr algn="l"/>
            <a:r>
              <a:rPr sz="1200" b="0">
                <a:solidFill>
                  <a:srgbClr val="CBD5E1"/>
                </a:solidFill>
              </a:rPr>
              <a:t>List all document sources with per-source chunk counts.</a:t>
            </a:r>
          </a:p>
        </p:txBody>
      </p:sp>
      <p:sp>
        <p:nvSpPr>
          <p:cNvPr id="46" name="Rectangle 45"/>
          <p:cNvSpPr/>
          <p:nvPr/>
        </p:nvSpPr>
        <p:spPr>
          <a:xfrm>
            <a:off x="365760" y="5029200"/>
            <a:ext cx="329184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657600" y="5029200"/>
            <a:ext cx="8229600" cy="365760"/>
          </a:xfrm>
          <a:prstGeom prst="rect">
            <a:avLst/>
          </a:prstGeom>
          <a:solidFill>
            <a:srgbClr val="1E293B"/>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5084064"/>
            <a:ext cx="3154680" cy="274320"/>
          </a:xfrm>
          <a:prstGeom prst="rect">
            <a:avLst/>
          </a:prstGeom>
          <a:noFill/>
        </p:spPr>
        <p:txBody>
          <a:bodyPr wrap="square">
            <a:spAutoFit/>
          </a:bodyPr>
          <a:lstStyle/>
          <a:p>
            <a:pPr algn="l"/>
            <a:r>
              <a:rPr sz="1200" b="1">
                <a:solidFill>
                  <a:srgbClr val="38BDF8"/>
                </a:solidFill>
              </a:rPr>
              <a:t>DELETE /kb/documents/{id}</a:t>
            </a:r>
          </a:p>
        </p:txBody>
      </p:sp>
      <p:sp>
        <p:nvSpPr>
          <p:cNvPr id="49" name="TextBox 48"/>
          <p:cNvSpPr txBox="1"/>
          <p:nvPr/>
        </p:nvSpPr>
        <p:spPr>
          <a:xfrm>
            <a:off x="3749040" y="5084064"/>
            <a:ext cx="8092440" cy="274320"/>
          </a:xfrm>
          <a:prstGeom prst="rect">
            <a:avLst/>
          </a:prstGeom>
          <a:noFill/>
        </p:spPr>
        <p:txBody>
          <a:bodyPr wrap="square">
            <a:spAutoFit/>
          </a:bodyPr>
          <a:lstStyle/>
          <a:p>
            <a:pPr algn="l"/>
            <a:r>
              <a:rPr sz="1200" b="0">
                <a:solidFill>
                  <a:srgbClr val="CBD5E1"/>
                </a:solidFill>
              </a:rPr>
              <a:t>Remove all chunks for a document (admin key required).</a:t>
            </a:r>
          </a:p>
        </p:txBody>
      </p:sp>
      <p:sp>
        <p:nvSpPr>
          <p:cNvPr id="50" name="Rectangle 49"/>
          <p:cNvSpPr/>
          <p:nvPr/>
        </p:nvSpPr>
        <p:spPr>
          <a:xfrm>
            <a:off x="365760" y="5394960"/>
            <a:ext cx="329184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657600" y="5394960"/>
            <a:ext cx="8229600" cy="365760"/>
          </a:xfrm>
          <a:prstGeom prst="rect">
            <a:avLst/>
          </a:prstGeom>
          <a:solidFill>
            <a:srgbClr val="263147"/>
          </a:solidFill>
          <a:ln w="63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5449824"/>
            <a:ext cx="3154680" cy="274320"/>
          </a:xfrm>
          <a:prstGeom prst="rect">
            <a:avLst/>
          </a:prstGeom>
          <a:noFill/>
        </p:spPr>
        <p:txBody>
          <a:bodyPr wrap="square">
            <a:spAutoFit/>
          </a:bodyPr>
          <a:lstStyle/>
          <a:p>
            <a:pPr algn="l"/>
            <a:r>
              <a:rPr sz="1200" b="1">
                <a:solidFill>
                  <a:srgbClr val="38BDF8"/>
                </a:solidFill>
              </a:rPr>
              <a:t>POST /cache/clear</a:t>
            </a:r>
          </a:p>
        </p:txBody>
      </p:sp>
      <p:sp>
        <p:nvSpPr>
          <p:cNvPr id="53" name="TextBox 52"/>
          <p:cNvSpPr txBox="1"/>
          <p:nvPr/>
        </p:nvSpPr>
        <p:spPr>
          <a:xfrm>
            <a:off x="3749040" y="5449824"/>
            <a:ext cx="8092440" cy="274320"/>
          </a:xfrm>
          <a:prstGeom prst="rect">
            <a:avLst/>
          </a:prstGeom>
          <a:noFill/>
        </p:spPr>
        <p:txBody>
          <a:bodyPr wrap="square">
            <a:spAutoFit/>
          </a:bodyPr>
          <a:lstStyle/>
          <a:p>
            <a:pPr algn="l"/>
            <a:r>
              <a:rPr sz="1200" b="0">
                <a:solidFill>
                  <a:srgbClr val="CBD5E1"/>
                </a:solidFill>
              </a:rPr>
              <a:t>Clear Redis + in-memory + semantic cache (admin key).</a:t>
            </a:r>
          </a:p>
        </p:txBody>
      </p:sp>
      <p:sp>
        <p:nvSpPr>
          <p:cNvPr id="54" name="TextBox 53"/>
          <p:cNvSpPr txBox="1"/>
          <p:nvPr/>
        </p:nvSpPr>
        <p:spPr>
          <a:xfrm>
            <a:off x="365760" y="5897880"/>
            <a:ext cx="11430000" cy="347472"/>
          </a:xfrm>
          <a:prstGeom prst="rect">
            <a:avLst/>
          </a:prstGeom>
          <a:noFill/>
        </p:spPr>
        <p:txBody>
          <a:bodyPr wrap="square">
            <a:spAutoFit/>
          </a:bodyPr>
          <a:lstStyle/>
          <a:p>
            <a:pPr algn="l"/>
            <a:r>
              <a:rPr sz="1200" b="0">
                <a:solidFill>
                  <a:srgbClr val="FBBF24"/>
                </a:solidFill>
              </a:rPr>
              <a:t>Auth: Authorization: Bearer &lt;key&gt;  |  Read key: /verify /audit /health  |  Admin key: /kb/ingest /cache/clear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11  Honest Project Report &amp; Grade</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Strengths, weaknesses, and final assessment</a:t>
            </a:r>
          </a:p>
        </p:txBody>
      </p:sp>
      <p:sp>
        <p:nvSpPr>
          <p:cNvPr id="6" name="TextBox 5"/>
          <p:cNvSpPr txBox="1"/>
          <p:nvPr/>
        </p:nvSpPr>
        <p:spPr>
          <a:xfrm>
            <a:off x="365760" y="1371600"/>
            <a:ext cx="5303520" cy="320040"/>
          </a:xfrm>
          <a:prstGeom prst="rect">
            <a:avLst/>
          </a:prstGeom>
          <a:noFill/>
        </p:spPr>
        <p:txBody>
          <a:bodyPr wrap="square">
            <a:spAutoFit/>
          </a:bodyPr>
          <a:lstStyle/>
          <a:p>
            <a:pPr algn="l"/>
            <a:r>
              <a:rPr sz="1400" b="1">
                <a:solidFill>
                  <a:srgbClr val="34D399"/>
                </a:solidFill>
              </a:rPr>
              <a:t>STRENGTHS</a:t>
            </a:r>
          </a:p>
        </p:txBody>
      </p:sp>
      <p:sp>
        <p:nvSpPr>
          <p:cNvPr id="7" name="TextBox 6"/>
          <p:cNvSpPr txBox="1"/>
          <p:nvPr/>
        </p:nvSpPr>
        <p:spPr>
          <a:xfrm>
            <a:off x="365760" y="1755648"/>
            <a:ext cx="5486400" cy="301752"/>
          </a:xfrm>
          <a:prstGeom prst="rect">
            <a:avLst/>
          </a:prstGeom>
          <a:noFill/>
        </p:spPr>
        <p:txBody>
          <a:bodyPr wrap="square">
            <a:spAutoFit/>
          </a:bodyPr>
          <a:lstStyle/>
          <a:p>
            <a:pPr algn="l"/>
            <a:r>
              <a:rPr sz="1100" b="0">
                <a:solidFill>
                  <a:srgbClr val="34D399"/>
                </a:solidFill>
              </a:rPr>
              <a:t>✓  Production-grade: HTTPS, Docker, CI/CD, auth, rate limiting</a:t>
            </a:r>
          </a:p>
        </p:txBody>
      </p:sp>
      <p:sp>
        <p:nvSpPr>
          <p:cNvPr id="8" name="TextBox 7"/>
          <p:cNvSpPr txBox="1"/>
          <p:nvPr/>
        </p:nvSpPr>
        <p:spPr>
          <a:xfrm>
            <a:off x="365760" y="2057400"/>
            <a:ext cx="5486400" cy="301752"/>
          </a:xfrm>
          <a:prstGeom prst="rect">
            <a:avLst/>
          </a:prstGeom>
          <a:noFill/>
        </p:spPr>
        <p:txBody>
          <a:bodyPr wrap="square">
            <a:spAutoFit/>
          </a:bodyPr>
          <a:lstStyle/>
          <a:p>
            <a:pPr algn="l"/>
            <a:r>
              <a:rPr sz="1100" b="0">
                <a:solidFill>
                  <a:srgbClr val="34D399"/>
                </a:solidFill>
              </a:rPr>
              <a:t>✓  Self-correcting: unique feature — rewrites errors automatically</a:t>
            </a:r>
          </a:p>
        </p:txBody>
      </p:sp>
      <p:sp>
        <p:nvSpPr>
          <p:cNvPr id="9" name="TextBox 8"/>
          <p:cNvSpPr txBox="1"/>
          <p:nvPr/>
        </p:nvSpPr>
        <p:spPr>
          <a:xfrm>
            <a:off x="365760" y="2359152"/>
            <a:ext cx="5486400" cy="301752"/>
          </a:xfrm>
          <a:prstGeom prst="rect">
            <a:avLst/>
          </a:prstGeom>
          <a:noFill/>
        </p:spPr>
        <p:txBody>
          <a:bodyPr wrap="square">
            <a:spAutoFit/>
          </a:bodyPr>
          <a:lstStyle/>
          <a:p>
            <a:pPr algn="l"/>
            <a:r>
              <a:rPr sz="1100" b="0">
                <a:solidFill>
                  <a:srgbClr val="34D399"/>
                </a:solidFill>
              </a:rPr>
              <a:t>✓  Domain-aware safety with per-category thresholds</a:t>
            </a:r>
          </a:p>
        </p:txBody>
      </p:sp>
      <p:sp>
        <p:nvSpPr>
          <p:cNvPr id="10" name="TextBox 9"/>
          <p:cNvSpPr txBox="1"/>
          <p:nvPr/>
        </p:nvSpPr>
        <p:spPr>
          <a:xfrm>
            <a:off x="365760" y="2660904"/>
            <a:ext cx="5486400" cy="301752"/>
          </a:xfrm>
          <a:prstGeom prst="rect">
            <a:avLst/>
          </a:prstGeom>
          <a:noFill/>
        </p:spPr>
        <p:txBody>
          <a:bodyPr wrap="square">
            <a:spAutoFit/>
          </a:bodyPr>
          <a:lstStyle/>
          <a:p>
            <a:pPr algn="l"/>
            <a:r>
              <a:rPr sz="1100" b="0">
                <a:solidFill>
                  <a:srgbClr val="34D399"/>
                </a:solidFill>
              </a:rPr>
              <a:t>✓  3-level semantic cache — prevents redundant LLM calls</a:t>
            </a:r>
          </a:p>
        </p:txBody>
      </p:sp>
      <p:sp>
        <p:nvSpPr>
          <p:cNvPr id="11" name="TextBox 10"/>
          <p:cNvSpPr txBox="1"/>
          <p:nvPr/>
        </p:nvSpPr>
        <p:spPr>
          <a:xfrm>
            <a:off x="365760" y="2962656"/>
            <a:ext cx="5486400" cy="301752"/>
          </a:xfrm>
          <a:prstGeom prst="rect">
            <a:avLst/>
          </a:prstGeom>
          <a:noFill/>
        </p:spPr>
        <p:txBody>
          <a:bodyPr wrap="square">
            <a:spAutoFit/>
          </a:bodyPr>
          <a:lstStyle/>
          <a:p>
            <a:pPr algn="l"/>
            <a:r>
              <a:rPr sz="1100" b="0">
                <a:solidFill>
                  <a:srgbClr val="34D399"/>
                </a:solidFill>
              </a:rPr>
              <a:t>✓  Streaming SSE — live results, no blank wait screen</a:t>
            </a:r>
          </a:p>
        </p:txBody>
      </p:sp>
      <p:sp>
        <p:nvSpPr>
          <p:cNvPr id="12" name="TextBox 11"/>
          <p:cNvSpPr txBox="1"/>
          <p:nvPr/>
        </p:nvSpPr>
        <p:spPr>
          <a:xfrm>
            <a:off x="365760" y="3264408"/>
            <a:ext cx="5486400" cy="301752"/>
          </a:xfrm>
          <a:prstGeom prst="rect">
            <a:avLst/>
          </a:prstGeom>
          <a:noFill/>
        </p:spPr>
        <p:txBody>
          <a:bodyPr wrap="square">
            <a:spAutoFit/>
          </a:bodyPr>
          <a:lstStyle/>
          <a:p>
            <a:pPr algn="l"/>
            <a:r>
              <a:rPr sz="1100" b="0">
                <a:solidFill>
                  <a:srgbClr val="34D399"/>
                </a:solidFill>
              </a:rPr>
              <a:t>✓  Full observability: audit trail, dashboard, health check</a:t>
            </a:r>
          </a:p>
        </p:txBody>
      </p:sp>
      <p:sp>
        <p:nvSpPr>
          <p:cNvPr id="13" name="TextBox 12"/>
          <p:cNvSpPr txBox="1"/>
          <p:nvPr/>
        </p:nvSpPr>
        <p:spPr>
          <a:xfrm>
            <a:off x="365760" y="3566160"/>
            <a:ext cx="5486400" cy="301752"/>
          </a:xfrm>
          <a:prstGeom prst="rect">
            <a:avLst/>
          </a:prstGeom>
          <a:noFill/>
        </p:spPr>
        <p:txBody>
          <a:bodyPr wrap="square">
            <a:spAutoFit/>
          </a:bodyPr>
          <a:lstStyle/>
          <a:p>
            <a:pPr algn="l"/>
            <a:r>
              <a:rPr sz="1100" b="0">
                <a:solidFill>
                  <a:srgbClr val="34D399"/>
                </a:solidFill>
              </a:rPr>
              <a:t>✓  OpenAI + Anthropic compatible API — drop-in proxy</a:t>
            </a:r>
          </a:p>
        </p:txBody>
      </p:sp>
      <p:sp>
        <p:nvSpPr>
          <p:cNvPr id="14" name="TextBox 13"/>
          <p:cNvSpPr txBox="1"/>
          <p:nvPr/>
        </p:nvSpPr>
        <p:spPr>
          <a:xfrm>
            <a:off x="365760" y="3867912"/>
            <a:ext cx="5486400" cy="301752"/>
          </a:xfrm>
          <a:prstGeom prst="rect">
            <a:avLst/>
          </a:prstGeom>
          <a:noFill/>
        </p:spPr>
        <p:txBody>
          <a:bodyPr wrap="square">
            <a:spAutoFit/>
          </a:bodyPr>
          <a:lstStyle/>
          <a:p>
            <a:pPr algn="l"/>
            <a:r>
              <a:rPr sz="1100" b="0">
                <a:solidFill>
                  <a:srgbClr val="34D399"/>
                </a:solidFill>
              </a:rPr>
              <a:t>✓  Zero-cost stack: NVIDIA NIM free tier, ChromaDB, Redis</a:t>
            </a:r>
          </a:p>
        </p:txBody>
      </p:sp>
      <p:sp>
        <p:nvSpPr>
          <p:cNvPr id="15" name="TextBox 14"/>
          <p:cNvSpPr txBox="1"/>
          <p:nvPr/>
        </p:nvSpPr>
        <p:spPr>
          <a:xfrm>
            <a:off x="365760" y="4169664"/>
            <a:ext cx="5486400" cy="301752"/>
          </a:xfrm>
          <a:prstGeom prst="rect">
            <a:avLst/>
          </a:prstGeom>
          <a:noFill/>
        </p:spPr>
        <p:txBody>
          <a:bodyPr wrap="square">
            <a:spAutoFit/>
          </a:bodyPr>
          <a:lstStyle/>
          <a:p>
            <a:pPr algn="l"/>
            <a:r>
              <a:rPr sz="1100" b="0">
                <a:solidFill>
                  <a:srgbClr val="34D399"/>
                </a:solidFill>
              </a:rPr>
              <a:t>✓  26-case evaluation suite + 46 automated pytest tests</a:t>
            </a:r>
          </a:p>
        </p:txBody>
      </p:sp>
      <p:sp>
        <p:nvSpPr>
          <p:cNvPr id="16" name="TextBox 15"/>
          <p:cNvSpPr txBox="1"/>
          <p:nvPr/>
        </p:nvSpPr>
        <p:spPr>
          <a:xfrm>
            <a:off x="365760" y="4471416"/>
            <a:ext cx="5486400" cy="301752"/>
          </a:xfrm>
          <a:prstGeom prst="rect">
            <a:avLst/>
          </a:prstGeom>
          <a:noFill/>
        </p:spPr>
        <p:txBody>
          <a:bodyPr wrap="square">
            <a:spAutoFit/>
          </a:bodyPr>
          <a:lstStyle/>
          <a:p>
            <a:pPr algn="l"/>
            <a:r>
              <a:rPr sz="1100" b="0">
                <a:solidFill>
                  <a:srgbClr val="34D399"/>
                </a:solidFill>
              </a:rPr>
              <a:t>✓  Hybrid BM25+vector+reranker retrieval pipeline</a:t>
            </a:r>
          </a:p>
        </p:txBody>
      </p:sp>
      <p:sp>
        <p:nvSpPr>
          <p:cNvPr id="17" name="TextBox 16"/>
          <p:cNvSpPr txBox="1"/>
          <p:nvPr/>
        </p:nvSpPr>
        <p:spPr>
          <a:xfrm>
            <a:off x="6309360" y="1371600"/>
            <a:ext cx="5486400" cy="320040"/>
          </a:xfrm>
          <a:prstGeom prst="rect">
            <a:avLst/>
          </a:prstGeom>
          <a:noFill/>
        </p:spPr>
        <p:txBody>
          <a:bodyPr wrap="square">
            <a:spAutoFit/>
          </a:bodyPr>
          <a:lstStyle/>
          <a:p>
            <a:pPr algn="l"/>
            <a:r>
              <a:rPr sz="1400" b="1">
                <a:solidFill>
                  <a:srgbClr val="F87171"/>
                </a:solidFill>
              </a:rPr>
              <a:t>HONEST WEAKNESSES</a:t>
            </a:r>
          </a:p>
        </p:txBody>
      </p:sp>
      <p:sp>
        <p:nvSpPr>
          <p:cNvPr id="18" name="TextBox 17"/>
          <p:cNvSpPr txBox="1"/>
          <p:nvPr/>
        </p:nvSpPr>
        <p:spPr>
          <a:xfrm>
            <a:off x="6309360" y="1755648"/>
            <a:ext cx="5577840" cy="301752"/>
          </a:xfrm>
          <a:prstGeom prst="rect">
            <a:avLst/>
          </a:prstGeom>
          <a:noFill/>
        </p:spPr>
        <p:txBody>
          <a:bodyPr wrap="square">
            <a:spAutoFit/>
          </a:bodyPr>
          <a:lstStyle/>
          <a:p>
            <a:pPr algn="l"/>
            <a:r>
              <a:rPr sz="1100" b="0">
                <a:solidFill>
                  <a:srgbClr val="F87171"/>
                </a:solidFill>
              </a:rPr>
              <a:t>✗  Rate limiting is per-process (breaks with 4 uvicorn workers) → needs Redis</a:t>
            </a:r>
          </a:p>
        </p:txBody>
      </p:sp>
      <p:sp>
        <p:nvSpPr>
          <p:cNvPr id="19" name="TextBox 18"/>
          <p:cNvSpPr txBox="1"/>
          <p:nvPr/>
        </p:nvSpPr>
        <p:spPr>
          <a:xfrm>
            <a:off x="6309360" y="2057400"/>
            <a:ext cx="5577840" cy="301752"/>
          </a:xfrm>
          <a:prstGeom prst="rect">
            <a:avLst/>
          </a:prstGeom>
          <a:noFill/>
        </p:spPr>
        <p:txBody>
          <a:bodyPr wrap="square">
            <a:spAutoFit/>
          </a:bodyPr>
          <a:lstStyle/>
          <a:p>
            <a:pPr algn="l"/>
            <a:r>
              <a:rPr sz="1100" b="0">
                <a:solidFill>
                  <a:srgbClr val="F87171"/>
                </a:solidFill>
              </a:rPr>
              <a:t>✗  Sync Redis client blocks event loop — needs redis.asyncio</a:t>
            </a:r>
          </a:p>
        </p:txBody>
      </p:sp>
      <p:sp>
        <p:nvSpPr>
          <p:cNvPr id="20" name="TextBox 19"/>
          <p:cNvSpPr txBox="1"/>
          <p:nvPr/>
        </p:nvSpPr>
        <p:spPr>
          <a:xfrm>
            <a:off x="6309360" y="2359152"/>
            <a:ext cx="5577840" cy="301752"/>
          </a:xfrm>
          <a:prstGeom prst="rect">
            <a:avLst/>
          </a:prstGeom>
          <a:noFill/>
        </p:spPr>
        <p:txBody>
          <a:bodyPr wrap="square">
            <a:spAutoFit/>
          </a:bodyPr>
          <a:lstStyle/>
          <a:p>
            <a:pPr algn="l"/>
            <a:r>
              <a:rPr sz="1100" b="0">
                <a:solidFill>
                  <a:srgbClr val="F87171"/>
                </a:solidFill>
              </a:rPr>
              <a:t>✗  NVIDIA NIM free tier can queue →  9–30s variance in latency</a:t>
            </a:r>
          </a:p>
        </p:txBody>
      </p:sp>
      <p:sp>
        <p:nvSpPr>
          <p:cNvPr id="21" name="TextBox 20"/>
          <p:cNvSpPr txBox="1"/>
          <p:nvPr/>
        </p:nvSpPr>
        <p:spPr>
          <a:xfrm>
            <a:off x="6309360" y="2660904"/>
            <a:ext cx="5577840" cy="301752"/>
          </a:xfrm>
          <a:prstGeom prst="rect">
            <a:avLst/>
          </a:prstGeom>
          <a:noFill/>
        </p:spPr>
        <p:txBody>
          <a:bodyPr wrap="square">
            <a:spAutoFit/>
          </a:bodyPr>
          <a:lstStyle/>
          <a:p>
            <a:pPr algn="l"/>
            <a:r>
              <a:rPr sz="1100" b="0">
                <a:solidFill>
                  <a:srgbClr val="F87171"/>
                </a:solidFill>
              </a:rPr>
              <a:t>✗  English-only (spaCy en_core_web_sm) — no multilingual support</a:t>
            </a:r>
          </a:p>
        </p:txBody>
      </p:sp>
      <p:sp>
        <p:nvSpPr>
          <p:cNvPr id="22" name="TextBox 21"/>
          <p:cNvSpPr txBox="1"/>
          <p:nvPr/>
        </p:nvSpPr>
        <p:spPr>
          <a:xfrm>
            <a:off x="6309360" y="2962656"/>
            <a:ext cx="5577840" cy="301752"/>
          </a:xfrm>
          <a:prstGeom prst="rect">
            <a:avLst/>
          </a:prstGeom>
          <a:noFill/>
        </p:spPr>
        <p:txBody>
          <a:bodyPr wrap="square">
            <a:spAutoFit/>
          </a:bodyPr>
          <a:lstStyle/>
          <a:p>
            <a:pPr algn="l"/>
            <a:r>
              <a:rPr sz="1100" b="0">
                <a:solidFill>
                  <a:srgbClr val="F87171"/>
                </a:solidFill>
              </a:rPr>
              <a:t>✗  No user accounts / multi-tenant isolation</a:t>
            </a:r>
          </a:p>
        </p:txBody>
      </p:sp>
      <p:sp>
        <p:nvSpPr>
          <p:cNvPr id="23" name="TextBox 22"/>
          <p:cNvSpPr txBox="1"/>
          <p:nvPr/>
        </p:nvSpPr>
        <p:spPr>
          <a:xfrm>
            <a:off x="6309360" y="3264408"/>
            <a:ext cx="5577840" cy="301752"/>
          </a:xfrm>
          <a:prstGeom prst="rect">
            <a:avLst/>
          </a:prstGeom>
          <a:noFill/>
        </p:spPr>
        <p:txBody>
          <a:bodyPr wrap="square">
            <a:spAutoFit/>
          </a:bodyPr>
          <a:lstStyle/>
          <a:p>
            <a:pPr algn="l"/>
            <a:r>
              <a:rPr sz="1100" b="0">
                <a:solidFill>
                  <a:srgbClr val="F87171"/>
                </a:solidFill>
              </a:rPr>
              <a:t>✗  No automated precision/recall CI gate (eval runs manually)</a:t>
            </a:r>
          </a:p>
        </p:txBody>
      </p:sp>
      <p:sp>
        <p:nvSpPr>
          <p:cNvPr id="24" name="TextBox 23"/>
          <p:cNvSpPr txBox="1"/>
          <p:nvPr/>
        </p:nvSpPr>
        <p:spPr>
          <a:xfrm>
            <a:off x="6309360" y="3566160"/>
            <a:ext cx="5577840" cy="301752"/>
          </a:xfrm>
          <a:prstGeom prst="rect">
            <a:avLst/>
          </a:prstGeom>
          <a:noFill/>
        </p:spPr>
        <p:txBody>
          <a:bodyPr wrap="square">
            <a:spAutoFit/>
          </a:bodyPr>
          <a:lstStyle/>
          <a:p>
            <a:pPr algn="l"/>
            <a:r>
              <a:rPr sz="1100" b="0">
                <a:solidFill>
                  <a:srgbClr val="F87171"/>
                </a:solidFill>
              </a:rPr>
              <a:t>✗  MPC off by default — most impressive feature not shown by default</a:t>
            </a:r>
          </a:p>
        </p:txBody>
      </p:sp>
      <p:sp>
        <p:nvSpPr>
          <p:cNvPr id="25" name="TextBox 24"/>
          <p:cNvSpPr txBox="1"/>
          <p:nvPr/>
        </p:nvSpPr>
        <p:spPr>
          <a:xfrm>
            <a:off x="6309360" y="3867912"/>
            <a:ext cx="5577840" cy="301752"/>
          </a:xfrm>
          <a:prstGeom prst="rect">
            <a:avLst/>
          </a:prstGeom>
          <a:noFill/>
        </p:spPr>
        <p:txBody>
          <a:bodyPr wrap="square">
            <a:spAutoFit/>
          </a:bodyPr>
          <a:lstStyle/>
          <a:p>
            <a:pPr algn="l"/>
            <a:r>
              <a:rPr sz="1100" b="0">
                <a:solidFill>
                  <a:srgbClr val="F87171"/>
                </a:solidFill>
              </a:rPr>
              <a:t>✗  KB coverage limited to ingested topics — uningested = unverifiable</a:t>
            </a:r>
          </a:p>
        </p:txBody>
      </p:sp>
      <p:sp>
        <p:nvSpPr>
          <p:cNvPr id="26" name="TextBox 25"/>
          <p:cNvSpPr txBox="1"/>
          <p:nvPr/>
        </p:nvSpPr>
        <p:spPr>
          <a:xfrm>
            <a:off x="6309360" y="4169664"/>
            <a:ext cx="5577840" cy="301752"/>
          </a:xfrm>
          <a:prstGeom prst="rect">
            <a:avLst/>
          </a:prstGeom>
          <a:noFill/>
        </p:spPr>
        <p:txBody>
          <a:bodyPr wrap="square">
            <a:spAutoFit/>
          </a:bodyPr>
          <a:lstStyle/>
          <a:p>
            <a:pPr algn="l"/>
            <a:r>
              <a:rPr sz="1100" b="0">
                <a:solidFill>
                  <a:srgbClr val="F87171"/>
                </a:solidFill>
              </a:rPr>
              <a:t>✗  No model versioning — KB drift when Chroma format changes</a:t>
            </a:r>
          </a:p>
        </p:txBody>
      </p:sp>
      <p:sp>
        <p:nvSpPr>
          <p:cNvPr id="27" name="TextBox 26"/>
          <p:cNvSpPr txBox="1"/>
          <p:nvPr/>
        </p:nvSpPr>
        <p:spPr>
          <a:xfrm>
            <a:off x="6309360" y="4471416"/>
            <a:ext cx="5577840" cy="301752"/>
          </a:xfrm>
          <a:prstGeom prst="rect">
            <a:avLst/>
          </a:prstGeom>
          <a:noFill/>
        </p:spPr>
        <p:txBody>
          <a:bodyPr wrap="square">
            <a:spAutoFit/>
          </a:bodyPr>
          <a:lstStyle/>
          <a:p>
            <a:pPr algn="l"/>
            <a:r>
              <a:rPr sz="1100" b="0">
                <a:solidFill>
                  <a:srgbClr val="F87171"/>
                </a:solidFill>
              </a:rPr>
              <a:t>✗  Frontend has no pagination on audit log (can lag with 10k+ entries)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12  Grade Breakdown</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Category-by-category technical assessment</a:t>
            </a:r>
          </a:p>
        </p:txBody>
      </p:sp>
      <p:sp>
        <p:nvSpPr>
          <p:cNvPr id="6" name="Rectangle 5"/>
          <p:cNvSpPr/>
          <p:nvPr/>
        </p:nvSpPr>
        <p:spPr>
          <a:xfrm>
            <a:off x="365760" y="1371600"/>
            <a:ext cx="2926080" cy="347472"/>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17320"/>
            <a:ext cx="2926080" cy="274320"/>
          </a:xfrm>
          <a:prstGeom prst="rect">
            <a:avLst/>
          </a:prstGeom>
          <a:noFill/>
        </p:spPr>
        <p:txBody>
          <a:bodyPr wrap="square">
            <a:spAutoFit/>
          </a:bodyPr>
          <a:lstStyle/>
          <a:p>
            <a:pPr algn="l"/>
            <a:r>
              <a:rPr sz="1100" b="1">
                <a:solidFill>
                  <a:srgbClr val="38BDF8"/>
                </a:solidFill>
              </a:rPr>
              <a:t>Category</a:t>
            </a:r>
          </a:p>
        </p:txBody>
      </p:sp>
      <p:sp>
        <p:nvSpPr>
          <p:cNvPr id="8" name="Rectangle 7"/>
          <p:cNvSpPr/>
          <p:nvPr/>
        </p:nvSpPr>
        <p:spPr>
          <a:xfrm>
            <a:off x="3291840" y="1371600"/>
            <a:ext cx="640080" cy="347472"/>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417320"/>
            <a:ext cx="640080" cy="274320"/>
          </a:xfrm>
          <a:prstGeom prst="rect">
            <a:avLst/>
          </a:prstGeom>
          <a:noFill/>
        </p:spPr>
        <p:txBody>
          <a:bodyPr wrap="square">
            <a:spAutoFit/>
          </a:bodyPr>
          <a:lstStyle/>
          <a:p>
            <a:pPr algn="l"/>
            <a:r>
              <a:rPr sz="1100" b="1">
                <a:solidFill>
                  <a:srgbClr val="38BDF8"/>
                </a:solidFill>
              </a:rPr>
              <a:t>Grade</a:t>
            </a:r>
          </a:p>
        </p:txBody>
      </p:sp>
      <p:sp>
        <p:nvSpPr>
          <p:cNvPr id="10" name="Rectangle 9"/>
          <p:cNvSpPr/>
          <p:nvPr/>
        </p:nvSpPr>
        <p:spPr>
          <a:xfrm>
            <a:off x="3931920" y="1371600"/>
            <a:ext cx="822960" cy="347472"/>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1417320"/>
            <a:ext cx="822960" cy="274320"/>
          </a:xfrm>
          <a:prstGeom prst="rect">
            <a:avLst/>
          </a:prstGeom>
          <a:noFill/>
        </p:spPr>
        <p:txBody>
          <a:bodyPr wrap="square">
            <a:spAutoFit/>
          </a:bodyPr>
          <a:lstStyle/>
          <a:p>
            <a:pPr algn="l"/>
            <a:r>
              <a:rPr sz="1100" b="1">
                <a:solidFill>
                  <a:srgbClr val="38BDF8"/>
                </a:solidFill>
              </a:rPr>
              <a:t>Score</a:t>
            </a:r>
          </a:p>
        </p:txBody>
      </p:sp>
      <p:sp>
        <p:nvSpPr>
          <p:cNvPr id="12" name="Rectangle 11"/>
          <p:cNvSpPr/>
          <p:nvPr/>
        </p:nvSpPr>
        <p:spPr>
          <a:xfrm>
            <a:off x="4754880" y="1371600"/>
            <a:ext cx="7315200" cy="347472"/>
          </a:xfrm>
          <a:prstGeom prst="rect">
            <a:avLst/>
          </a:prstGeom>
          <a:solidFill>
            <a:srgbClr val="0F172A"/>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1417320"/>
            <a:ext cx="7315200" cy="274320"/>
          </a:xfrm>
          <a:prstGeom prst="rect">
            <a:avLst/>
          </a:prstGeom>
          <a:noFill/>
        </p:spPr>
        <p:txBody>
          <a:bodyPr wrap="square">
            <a:spAutoFit/>
          </a:bodyPr>
          <a:lstStyle/>
          <a:p>
            <a:pPr algn="l"/>
            <a:r>
              <a:rPr sz="1100" b="1">
                <a:solidFill>
                  <a:srgbClr val="38BDF8"/>
                </a:solidFill>
              </a:rPr>
              <a:t>Notes</a:t>
            </a:r>
          </a:p>
        </p:txBody>
      </p:sp>
      <p:sp>
        <p:nvSpPr>
          <p:cNvPr id="14" name="Rectangle 13"/>
          <p:cNvSpPr/>
          <p:nvPr/>
        </p:nvSpPr>
        <p:spPr>
          <a:xfrm>
            <a:off x="365760" y="1719072"/>
            <a:ext cx="2926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719072"/>
            <a:ext cx="640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0" y="1719072"/>
            <a:ext cx="82296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1719072"/>
            <a:ext cx="731520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810512"/>
            <a:ext cx="2743200" cy="457200"/>
          </a:xfrm>
          <a:prstGeom prst="rect">
            <a:avLst/>
          </a:prstGeom>
          <a:noFill/>
        </p:spPr>
        <p:txBody>
          <a:bodyPr wrap="square">
            <a:spAutoFit/>
          </a:bodyPr>
          <a:lstStyle/>
          <a:p>
            <a:pPr algn="l"/>
            <a:r>
              <a:rPr sz="1100" b="0">
                <a:solidFill>
                  <a:srgbClr val="CBD5E1"/>
                </a:solidFill>
              </a:rPr>
              <a:t>Architecture &amp; Design</a:t>
            </a:r>
          </a:p>
        </p:txBody>
      </p:sp>
      <p:sp>
        <p:nvSpPr>
          <p:cNvPr id="19" name="TextBox 18"/>
          <p:cNvSpPr txBox="1"/>
          <p:nvPr/>
        </p:nvSpPr>
        <p:spPr>
          <a:xfrm>
            <a:off x="3310128" y="1764792"/>
            <a:ext cx="594360" cy="457200"/>
          </a:xfrm>
          <a:prstGeom prst="rect">
            <a:avLst/>
          </a:prstGeom>
          <a:noFill/>
        </p:spPr>
        <p:txBody>
          <a:bodyPr wrap="square">
            <a:spAutoFit/>
          </a:bodyPr>
          <a:lstStyle/>
          <a:p>
            <a:pPr algn="ctr"/>
            <a:r>
              <a:rPr sz="1500" b="1">
                <a:solidFill>
                  <a:srgbClr val="34D399"/>
                </a:solidFill>
              </a:rPr>
              <a:t>A</a:t>
            </a:r>
          </a:p>
        </p:txBody>
      </p:sp>
      <p:sp>
        <p:nvSpPr>
          <p:cNvPr id="20" name="TextBox 19"/>
          <p:cNvSpPr txBox="1"/>
          <p:nvPr/>
        </p:nvSpPr>
        <p:spPr>
          <a:xfrm>
            <a:off x="3977639" y="1810512"/>
            <a:ext cx="731520" cy="457200"/>
          </a:xfrm>
          <a:prstGeom prst="rect">
            <a:avLst/>
          </a:prstGeom>
          <a:noFill/>
        </p:spPr>
        <p:txBody>
          <a:bodyPr wrap="square">
            <a:spAutoFit/>
          </a:bodyPr>
          <a:lstStyle/>
          <a:p>
            <a:pPr algn="ctr"/>
            <a:r>
              <a:rPr sz="1100" b="0">
                <a:solidFill>
                  <a:srgbClr val="34D399"/>
                </a:solidFill>
              </a:rPr>
              <a:t>9.0/10</a:t>
            </a:r>
          </a:p>
        </p:txBody>
      </p:sp>
      <p:sp>
        <p:nvSpPr>
          <p:cNvPr id="21" name="TextBox 20"/>
          <p:cNvSpPr txBox="1"/>
          <p:nvPr/>
        </p:nvSpPr>
        <p:spPr>
          <a:xfrm>
            <a:off x="4846320" y="1792224"/>
            <a:ext cx="7132320" cy="457200"/>
          </a:xfrm>
          <a:prstGeom prst="rect">
            <a:avLst/>
          </a:prstGeom>
          <a:noFill/>
        </p:spPr>
        <p:txBody>
          <a:bodyPr wrap="square">
            <a:spAutoFit/>
          </a:bodyPr>
          <a:lstStyle/>
          <a:p>
            <a:pPr algn="l"/>
            <a:r>
              <a:rPr sz="1000" b="0">
                <a:solidFill>
                  <a:srgbClr val="94A3B8"/>
                </a:solidFill>
              </a:rPr>
              <a:t>Clean layered separation. FastAPI + async pipeline + SSE well-designed. Minor: rate limiting and Redis client not fully async.</a:t>
            </a:r>
          </a:p>
        </p:txBody>
      </p:sp>
      <p:sp>
        <p:nvSpPr>
          <p:cNvPr id="22" name="Rectangle 21"/>
          <p:cNvSpPr/>
          <p:nvPr/>
        </p:nvSpPr>
        <p:spPr>
          <a:xfrm>
            <a:off x="365760" y="2176272"/>
            <a:ext cx="2926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91840" y="2176272"/>
            <a:ext cx="640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31920" y="2176272"/>
            <a:ext cx="82296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0" y="2176272"/>
            <a:ext cx="731520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267712"/>
            <a:ext cx="2743200" cy="457200"/>
          </a:xfrm>
          <a:prstGeom prst="rect">
            <a:avLst/>
          </a:prstGeom>
          <a:noFill/>
        </p:spPr>
        <p:txBody>
          <a:bodyPr wrap="square">
            <a:spAutoFit/>
          </a:bodyPr>
          <a:lstStyle/>
          <a:p>
            <a:pPr algn="l"/>
            <a:r>
              <a:rPr sz="1100" b="0">
                <a:solidFill>
                  <a:srgbClr val="CBD5E1"/>
                </a:solidFill>
              </a:rPr>
              <a:t>Feature Completeness</a:t>
            </a:r>
          </a:p>
        </p:txBody>
      </p:sp>
      <p:sp>
        <p:nvSpPr>
          <p:cNvPr id="27" name="TextBox 26"/>
          <p:cNvSpPr txBox="1"/>
          <p:nvPr/>
        </p:nvSpPr>
        <p:spPr>
          <a:xfrm>
            <a:off x="3310128" y="2221992"/>
            <a:ext cx="594360" cy="457200"/>
          </a:xfrm>
          <a:prstGeom prst="rect">
            <a:avLst/>
          </a:prstGeom>
          <a:noFill/>
        </p:spPr>
        <p:txBody>
          <a:bodyPr wrap="square">
            <a:spAutoFit/>
          </a:bodyPr>
          <a:lstStyle/>
          <a:p>
            <a:pPr algn="ctr"/>
            <a:r>
              <a:rPr sz="1500" b="1">
                <a:solidFill>
                  <a:srgbClr val="34D399"/>
                </a:solidFill>
              </a:rPr>
              <a:t>A+</a:t>
            </a:r>
          </a:p>
        </p:txBody>
      </p:sp>
      <p:sp>
        <p:nvSpPr>
          <p:cNvPr id="28" name="TextBox 27"/>
          <p:cNvSpPr txBox="1"/>
          <p:nvPr/>
        </p:nvSpPr>
        <p:spPr>
          <a:xfrm>
            <a:off x="3977639" y="2267712"/>
            <a:ext cx="731520" cy="457200"/>
          </a:xfrm>
          <a:prstGeom prst="rect">
            <a:avLst/>
          </a:prstGeom>
          <a:noFill/>
        </p:spPr>
        <p:txBody>
          <a:bodyPr wrap="square">
            <a:spAutoFit/>
          </a:bodyPr>
          <a:lstStyle/>
          <a:p>
            <a:pPr algn="ctr"/>
            <a:r>
              <a:rPr sz="1100" b="0">
                <a:solidFill>
                  <a:srgbClr val="34D399"/>
                </a:solidFill>
              </a:rPr>
              <a:t>9.5/10</a:t>
            </a:r>
          </a:p>
        </p:txBody>
      </p:sp>
      <p:sp>
        <p:nvSpPr>
          <p:cNvPr id="29" name="TextBox 28"/>
          <p:cNvSpPr txBox="1"/>
          <p:nvPr/>
        </p:nvSpPr>
        <p:spPr>
          <a:xfrm>
            <a:off x="4846320" y="2249424"/>
            <a:ext cx="7132320" cy="457200"/>
          </a:xfrm>
          <a:prstGeom prst="rect">
            <a:avLst/>
          </a:prstGeom>
          <a:noFill/>
        </p:spPr>
        <p:txBody>
          <a:bodyPr wrap="square">
            <a:spAutoFit/>
          </a:bodyPr>
          <a:lstStyle/>
          <a:p>
            <a:pPr algn="l"/>
            <a:r>
              <a:rPr sz="1000" b="0">
                <a:solidFill>
                  <a:srgbClr val="94A3B8"/>
                </a:solidFill>
              </a:rPr>
              <a:t>Self-correction, MPC, streaming, domain thresholds, Web-RAG, semantic cache, 3 LLM providers — extremely feature-rich.</a:t>
            </a:r>
          </a:p>
        </p:txBody>
      </p:sp>
      <p:sp>
        <p:nvSpPr>
          <p:cNvPr id="30" name="Rectangle 29"/>
          <p:cNvSpPr/>
          <p:nvPr/>
        </p:nvSpPr>
        <p:spPr>
          <a:xfrm>
            <a:off x="365760" y="2633472"/>
            <a:ext cx="2926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291840" y="2633472"/>
            <a:ext cx="640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31920" y="2633472"/>
            <a:ext cx="82296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54880" y="2633472"/>
            <a:ext cx="731520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2724912"/>
            <a:ext cx="2743200" cy="457200"/>
          </a:xfrm>
          <a:prstGeom prst="rect">
            <a:avLst/>
          </a:prstGeom>
          <a:noFill/>
        </p:spPr>
        <p:txBody>
          <a:bodyPr wrap="square">
            <a:spAutoFit/>
          </a:bodyPr>
          <a:lstStyle/>
          <a:p>
            <a:pPr algn="l"/>
            <a:r>
              <a:rPr sz="1100" b="0">
                <a:solidFill>
                  <a:srgbClr val="CBD5E1"/>
                </a:solidFill>
              </a:rPr>
              <a:t>Code Quality</a:t>
            </a:r>
          </a:p>
        </p:txBody>
      </p:sp>
      <p:sp>
        <p:nvSpPr>
          <p:cNvPr id="35" name="TextBox 34"/>
          <p:cNvSpPr txBox="1"/>
          <p:nvPr/>
        </p:nvSpPr>
        <p:spPr>
          <a:xfrm>
            <a:off x="3310128" y="2679192"/>
            <a:ext cx="594360" cy="457200"/>
          </a:xfrm>
          <a:prstGeom prst="rect">
            <a:avLst/>
          </a:prstGeom>
          <a:noFill/>
        </p:spPr>
        <p:txBody>
          <a:bodyPr wrap="square">
            <a:spAutoFit/>
          </a:bodyPr>
          <a:lstStyle/>
          <a:p>
            <a:pPr algn="ctr"/>
            <a:r>
              <a:rPr sz="1500" b="1">
                <a:solidFill>
                  <a:srgbClr val="34D399"/>
                </a:solidFill>
              </a:rPr>
              <a:t>A-</a:t>
            </a:r>
          </a:p>
        </p:txBody>
      </p:sp>
      <p:sp>
        <p:nvSpPr>
          <p:cNvPr id="36" name="TextBox 35"/>
          <p:cNvSpPr txBox="1"/>
          <p:nvPr/>
        </p:nvSpPr>
        <p:spPr>
          <a:xfrm>
            <a:off x="3977639" y="2724912"/>
            <a:ext cx="731520" cy="457200"/>
          </a:xfrm>
          <a:prstGeom prst="rect">
            <a:avLst/>
          </a:prstGeom>
          <a:noFill/>
        </p:spPr>
        <p:txBody>
          <a:bodyPr wrap="square">
            <a:spAutoFit/>
          </a:bodyPr>
          <a:lstStyle/>
          <a:p>
            <a:pPr algn="ctr"/>
            <a:r>
              <a:rPr sz="1100" b="0">
                <a:solidFill>
                  <a:srgbClr val="34D399"/>
                </a:solidFill>
              </a:rPr>
              <a:t>8.5/10</a:t>
            </a:r>
          </a:p>
        </p:txBody>
      </p:sp>
      <p:sp>
        <p:nvSpPr>
          <p:cNvPr id="37" name="TextBox 36"/>
          <p:cNvSpPr txBox="1"/>
          <p:nvPr/>
        </p:nvSpPr>
        <p:spPr>
          <a:xfrm>
            <a:off x="4846320" y="2706624"/>
            <a:ext cx="7132320" cy="457200"/>
          </a:xfrm>
          <a:prstGeom prst="rect">
            <a:avLst/>
          </a:prstGeom>
          <a:noFill/>
        </p:spPr>
        <p:txBody>
          <a:bodyPr wrap="square">
            <a:spAutoFit/>
          </a:bodyPr>
          <a:lstStyle/>
          <a:p>
            <a:pPr algn="l"/>
            <a:r>
              <a:rPr sz="1000" b="0">
                <a:solidFill>
                  <a:srgbClr val="94A3B8"/>
                </a:solidFill>
              </a:rPr>
              <a:t>Good Pydantic models, docstrings, error handling. Minor: some duplicate logic between verify() and verify_streaming().</a:t>
            </a:r>
          </a:p>
        </p:txBody>
      </p:sp>
      <p:sp>
        <p:nvSpPr>
          <p:cNvPr id="38" name="Rectangle 37"/>
          <p:cNvSpPr/>
          <p:nvPr/>
        </p:nvSpPr>
        <p:spPr>
          <a:xfrm>
            <a:off x="365760" y="3090672"/>
            <a:ext cx="2926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291840" y="3090672"/>
            <a:ext cx="640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31920" y="3090672"/>
            <a:ext cx="82296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754880" y="3090672"/>
            <a:ext cx="731520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182112"/>
            <a:ext cx="2743200" cy="457200"/>
          </a:xfrm>
          <a:prstGeom prst="rect">
            <a:avLst/>
          </a:prstGeom>
          <a:noFill/>
        </p:spPr>
        <p:txBody>
          <a:bodyPr wrap="square">
            <a:spAutoFit/>
          </a:bodyPr>
          <a:lstStyle/>
          <a:p>
            <a:pPr algn="l"/>
            <a:r>
              <a:rPr sz="1100" b="0">
                <a:solidFill>
                  <a:srgbClr val="CBD5E1"/>
                </a:solidFill>
              </a:rPr>
              <a:t>Production Readiness</a:t>
            </a:r>
          </a:p>
        </p:txBody>
      </p:sp>
      <p:sp>
        <p:nvSpPr>
          <p:cNvPr id="43" name="TextBox 42"/>
          <p:cNvSpPr txBox="1"/>
          <p:nvPr/>
        </p:nvSpPr>
        <p:spPr>
          <a:xfrm>
            <a:off x="3310128" y="3136392"/>
            <a:ext cx="594360" cy="457200"/>
          </a:xfrm>
          <a:prstGeom prst="rect">
            <a:avLst/>
          </a:prstGeom>
          <a:noFill/>
        </p:spPr>
        <p:txBody>
          <a:bodyPr wrap="square">
            <a:spAutoFit/>
          </a:bodyPr>
          <a:lstStyle/>
          <a:p>
            <a:pPr algn="ctr"/>
            <a:r>
              <a:rPr sz="1500" b="1">
                <a:solidFill>
                  <a:srgbClr val="34D399"/>
                </a:solidFill>
              </a:rPr>
              <a:t>A</a:t>
            </a:r>
          </a:p>
        </p:txBody>
      </p:sp>
      <p:sp>
        <p:nvSpPr>
          <p:cNvPr id="44" name="TextBox 43"/>
          <p:cNvSpPr txBox="1"/>
          <p:nvPr/>
        </p:nvSpPr>
        <p:spPr>
          <a:xfrm>
            <a:off x="3977639" y="3182112"/>
            <a:ext cx="731520" cy="457200"/>
          </a:xfrm>
          <a:prstGeom prst="rect">
            <a:avLst/>
          </a:prstGeom>
          <a:noFill/>
        </p:spPr>
        <p:txBody>
          <a:bodyPr wrap="square">
            <a:spAutoFit/>
          </a:bodyPr>
          <a:lstStyle/>
          <a:p>
            <a:pPr algn="ctr"/>
            <a:r>
              <a:rPr sz="1100" b="0">
                <a:solidFill>
                  <a:srgbClr val="34D399"/>
                </a:solidFill>
              </a:rPr>
              <a:t>9.0/10</a:t>
            </a:r>
          </a:p>
        </p:txBody>
      </p:sp>
      <p:sp>
        <p:nvSpPr>
          <p:cNvPr id="45" name="TextBox 44"/>
          <p:cNvSpPr txBox="1"/>
          <p:nvPr/>
        </p:nvSpPr>
        <p:spPr>
          <a:xfrm>
            <a:off x="4846320" y="3163824"/>
            <a:ext cx="7132320" cy="457200"/>
          </a:xfrm>
          <a:prstGeom prst="rect">
            <a:avLst/>
          </a:prstGeom>
          <a:noFill/>
        </p:spPr>
        <p:txBody>
          <a:bodyPr wrap="square">
            <a:spAutoFit/>
          </a:bodyPr>
          <a:lstStyle/>
          <a:p>
            <a:pPr algn="l"/>
            <a:r>
              <a:rPr sz="1000" b="0">
                <a:solidFill>
                  <a:srgbClr val="94A3B8"/>
                </a:solidFill>
              </a:rPr>
              <a:t>HTTPS, Docker, CI, auth, rate limiting, health check, audit trail. Missing: Redis-backed rate limiting, async Redis.</a:t>
            </a:r>
          </a:p>
        </p:txBody>
      </p:sp>
      <p:sp>
        <p:nvSpPr>
          <p:cNvPr id="46" name="Rectangle 45"/>
          <p:cNvSpPr/>
          <p:nvPr/>
        </p:nvSpPr>
        <p:spPr>
          <a:xfrm>
            <a:off x="365760" y="3547872"/>
            <a:ext cx="2926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291840" y="3547872"/>
            <a:ext cx="640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931920" y="3547872"/>
            <a:ext cx="82296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754880" y="3547872"/>
            <a:ext cx="731520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7200" y="3639312"/>
            <a:ext cx="2743200" cy="457200"/>
          </a:xfrm>
          <a:prstGeom prst="rect">
            <a:avLst/>
          </a:prstGeom>
          <a:noFill/>
        </p:spPr>
        <p:txBody>
          <a:bodyPr wrap="square">
            <a:spAutoFit/>
          </a:bodyPr>
          <a:lstStyle/>
          <a:p>
            <a:pPr algn="l"/>
            <a:r>
              <a:rPr sz="1100" b="0">
                <a:solidFill>
                  <a:srgbClr val="CBD5E1"/>
                </a:solidFill>
              </a:rPr>
              <a:t>Testing &amp; Evaluation</a:t>
            </a:r>
          </a:p>
        </p:txBody>
      </p:sp>
      <p:sp>
        <p:nvSpPr>
          <p:cNvPr id="51" name="TextBox 50"/>
          <p:cNvSpPr txBox="1"/>
          <p:nvPr/>
        </p:nvSpPr>
        <p:spPr>
          <a:xfrm>
            <a:off x="3310128" y="3593592"/>
            <a:ext cx="594360" cy="457200"/>
          </a:xfrm>
          <a:prstGeom prst="rect">
            <a:avLst/>
          </a:prstGeom>
          <a:noFill/>
        </p:spPr>
        <p:txBody>
          <a:bodyPr wrap="square">
            <a:spAutoFit/>
          </a:bodyPr>
          <a:lstStyle/>
          <a:p>
            <a:pPr algn="ctr"/>
            <a:r>
              <a:rPr sz="1500" b="1">
                <a:solidFill>
                  <a:srgbClr val="FBBF24"/>
                </a:solidFill>
              </a:rPr>
              <a:t>B+</a:t>
            </a:r>
          </a:p>
        </p:txBody>
      </p:sp>
      <p:sp>
        <p:nvSpPr>
          <p:cNvPr id="52" name="TextBox 51"/>
          <p:cNvSpPr txBox="1"/>
          <p:nvPr/>
        </p:nvSpPr>
        <p:spPr>
          <a:xfrm>
            <a:off x="3977639" y="3639312"/>
            <a:ext cx="731520" cy="457200"/>
          </a:xfrm>
          <a:prstGeom prst="rect">
            <a:avLst/>
          </a:prstGeom>
          <a:noFill/>
        </p:spPr>
        <p:txBody>
          <a:bodyPr wrap="square">
            <a:spAutoFit/>
          </a:bodyPr>
          <a:lstStyle/>
          <a:p>
            <a:pPr algn="ctr"/>
            <a:r>
              <a:rPr sz="1100" b="0">
                <a:solidFill>
                  <a:srgbClr val="FBBF24"/>
                </a:solidFill>
              </a:rPr>
              <a:t>8.0/10</a:t>
            </a:r>
          </a:p>
        </p:txBody>
      </p:sp>
      <p:sp>
        <p:nvSpPr>
          <p:cNvPr id="53" name="TextBox 52"/>
          <p:cNvSpPr txBox="1"/>
          <p:nvPr/>
        </p:nvSpPr>
        <p:spPr>
          <a:xfrm>
            <a:off x="4846320" y="3621024"/>
            <a:ext cx="7132320" cy="457200"/>
          </a:xfrm>
          <a:prstGeom prst="rect">
            <a:avLst/>
          </a:prstGeom>
          <a:noFill/>
        </p:spPr>
        <p:txBody>
          <a:bodyPr wrap="square">
            <a:spAutoFit/>
          </a:bodyPr>
          <a:lstStyle/>
          <a:p>
            <a:pPr algn="l"/>
            <a:r>
              <a:rPr sz="1000" b="0">
                <a:solidFill>
                  <a:srgbClr val="94A3B8"/>
                </a:solidFill>
              </a:rPr>
              <a:t>46 pytest tests, 26 eval cases. Missing: CI precision/recall gate, integration tests hitting real LLM, load/stress tests.</a:t>
            </a:r>
          </a:p>
        </p:txBody>
      </p:sp>
      <p:sp>
        <p:nvSpPr>
          <p:cNvPr id="54" name="Rectangle 53"/>
          <p:cNvSpPr/>
          <p:nvPr/>
        </p:nvSpPr>
        <p:spPr>
          <a:xfrm>
            <a:off x="365760" y="4005072"/>
            <a:ext cx="2926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291840" y="4005072"/>
            <a:ext cx="640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931920" y="4005072"/>
            <a:ext cx="82296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54880" y="4005072"/>
            <a:ext cx="731520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4096512"/>
            <a:ext cx="2743200" cy="457200"/>
          </a:xfrm>
          <a:prstGeom prst="rect">
            <a:avLst/>
          </a:prstGeom>
          <a:noFill/>
        </p:spPr>
        <p:txBody>
          <a:bodyPr wrap="square">
            <a:spAutoFit/>
          </a:bodyPr>
          <a:lstStyle/>
          <a:p>
            <a:pPr algn="l"/>
            <a:r>
              <a:rPr sz="1100" b="0">
                <a:solidFill>
                  <a:srgbClr val="CBD5E1"/>
                </a:solidFill>
              </a:rPr>
              <a:t>Documentation &amp; UX</a:t>
            </a:r>
          </a:p>
        </p:txBody>
      </p:sp>
      <p:sp>
        <p:nvSpPr>
          <p:cNvPr id="59" name="TextBox 58"/>
          <p:cNvSpPr txBox="1"/>
          <p:nvPr/>
        </p:nvSpPr>
        <p:spPr>
          <a:xfrm>
            <a:off x="3310128" y="4050792"/>
            <a:ext cx="594360" cy="457200"/>
          </a:xfrm>
          <a:prstGeom prst="rect">
            <a:avLst/>
          </a:prstGeom>
          <a:noFill/>
        </p:spPr>
        <p:txBody>
          <a:bodyPr wrap="square">
            <a:spAutoFit/>
          </a:bodyPr>
          <a:lstStyle/>
          <a:p>
            <a:pPr algn="ctr"/>
            <a:r>
              <a:rPr sz="1500" b="1">
                <a:solidFill>
                  <a:srgbClr val="34D399"/>
                </a:solidFill>
              </a:rPr>
              <a:t>A</a:t>
            </a:r>
          </a:p>
        </p:txBody>
      </p:sp>
      <p:sp>
        <p:nvSpPr>
          <p:cNvPr id="60" name="TextBox 59"/>
          <p:cNvSpPr txBox="1"/>
          <p:nvPr/>
        </p:nvSpPr>
        <p:spPr>
          <a:xfrm>
            <a:off x="3977639" y="4096512"/>
            <a:ext cx="731520" cy="457200"/>
          </a:xfrm>
          <a:prstGeom prst="rect">
            <a:avLst/>
          </a:prstGeom>
          <a:noFill/>
        </p:spPr>
        <p:txBody>
          <a:bodyPr wrap="square">
            <a:spAutoFit/>
          </a:bodyPr>
          <a:lstStyle/>
          <a:p>
            <a:pPr algn="ctr"/>
            <a:r>
              <a:rPr sz="1100" b="0">
                <a:solidFill>
                  <a:srgbClr val="34D399"/>
                </a:solidFill>
              </a:rPr>
              <a:t>9.0/10</a:t>
            </a:r>
          </a:p>
        </p:txBody>
      </p:sp>
      <p:sp>
        <p:nvSpPr>
          <p:cNvPr id="61" name="TextBox 60"/>
          <p:cNvSpPr txBox="1"/>
          <p:nvPr/>
        </p:nvSpPr>
        <p:spPr>
          <a:xfrm>
            <a:off x="4846320" y="4078224"/>
            <a:ext cx="7132320" cy="457200"/>
          </a:xfrm>
          <a:prstGeom prst="rect">
            <a:avLst/>
          </a:prstGeom>
          <a:noFill/>
        </p:spPr>
        <p:txBody>
          <a:bodyPr wrap="square">
            <a:spAutoFit/>
          </a:bodyPr>
          <a:lstStyle/>
          <a:p>
            <a:pPr algn="l"/>
            <a:r>
              <a:rPr sz="1000" b="0">
                <a:solidFill>
                  <a:srgbClr val="94A3B8"/>
                </a:solidFill>
              </a:rPr>
              <a:t>Excellent README with curl examples. 5-tab React UI. Live SSE streaming. Swagger UI. Audit log export.</a:t>
            </a:r>
          </a:p>
        </p:txBody>
      </p:sp>
      <p:sp>
        <p:nvSpPr>
          <p:cNvPr id="62" name="Rectangle 61"/>
          <p:cNvSpPr/>
          <p:nvPr/>
        </p:nvSpPr>
        <p:spPr>
          <a:xfrm>
            <a:off x="365760" y="4462272"/>
            <a:ext cx="2926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3291840" y="4462272"/>
            <a:ext cx="64008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931920" y="4462272"/>
            <a:ext cx="82296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754880" y="4462272"/>
            <a:ext cx="7315200" cy="457200"/>
          </a:xfrm>
          <a:prstGeom prst="rect">
            <a:avLst/>
          </a:prstGeom>
          <a:solidFill>
            <a:srgbClr val="1E293B"/>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7200" y="4553712"/>
            <a:ext cx="2743200" cy="457200"/>
          </a:xfrm>
          <a:prstGeom prst="rect">
            <a:avLst/>
          </a:prstGeom>
          <a:noFill/>
        </p:spPr>
        <p:txBody>
          <a:bodyPr wrap="square">
            <a:spAutoFit/>
          </a:bodyPr>
          <a:lstStyle/>
          <a:p>
            <a:pPr algn="l"/>
            <a:r>
              <a:rPr sz="1100" b="0">
                <a:solidFill>
                  <a:srgbClr val="CBD5E1"/>
                </a:solidFill>
              </a:rPr>
              <a:t>Innovation</a:t>
            </a:r>
          </a:p>
        </p:txBody>
      </p:sp>
      <p:sp>
        <p:nvSpPr>
          <p:cNvPr id="67" name="TextBox 66"/>
          <p:cNvSpPr txBox="1"/>
          <p:nvPr/>
        </p:nvSpPr>
        <p:spPr>
          <a:xfrm>
            <a:off x="3310128" y="4507992"/>
            <a:ext cx="594360" cy="457200"/>
          </a:xfrm>
          <a:prstGeom prst="rect">
            <a:avLst/>
          </a:prstGeom>
          <a:noFill/>
        </p:spPr>
        <p:txBody>
          <a:bodyPr wrap="square">
            <a:spAutoFit/>
          </a:bodyPr>
          <a:lstStyle/>
          <a:p>
            <a:pPr algn="ctr"/>
            <a:r>
              <a:rPr sz="1500" b="1">
                <a:solidFill>
                  <a:srgbClr val="34D399"/>
                </a:solidFill>
              </a:rPr>
              <a:t>A+</a:t>
            </a:r>
          </a:p>
        </p:txBody>
      </p:sp>
      <p:sp>
        <p:nvSpPr>
          <p:cNvPr id="68" name="TextBox 67"/>
          <p:cNvSpPr txBox="1"/>
          <p:nvPr/>
        </p:nvSpPr>
        <p:spPr>
          <a:xfrm>
            <a:off x="3977639" y="4553712"/>
            <a:ext cx="731520" cy="457200"/>
          </a:xfrm>
          <a:prstGeom prst="rect">
            <a:avLst/>
          </a:prstGeom>
          <a:noFill/>
        </p:spPr>
        <p:txBody>
          <a:bodyPr wrap="square">
            <a:spAutoFit/>
          </a:bodyPr>
          <a:lstStyle/>
          <a:p>
            <a:pPr algn="ctr"/>
            <a:r>
              <a:rPr sz="1100" b="0">
                <a:solidFill>
                  <a:srgbClr val="34D399"/>
                </a:solidFill>
              </a:rPr>
              <a:t>9.5/10</a:t>
            </a:r>
          </a:p>
        </p:txBody>
      </p:sp>
      <p:sp>
        <p:nvSpPr>
          <p:cNvPr id="69" name="TextBox 68"/>
          <p:cNvSpPr txBox="1"/>
          <p:nvPr/>
        </p:nvSpPr>
        <p:spPr>
          <a:xfrm>
            <a:off x="4846320" y="4535424"/>
            <a:ext cx="7132320" cy="457200"/>
          </a:xfrm>
          <a:prstGeom prst="rect">
            <a:avLst/>
          </a:prstGeom>
          <a:noFill/>
        </p:spPr>
        <p:txBody>
          <a:bodyPr wrap="square">
            <a:spAutoFit/>
          </a:bodyPr>
          <a:lstStyle/>
          <a:p>
            <a:pPr algn="l"/>
            <a:r>
              <a:rPr sz="1000" b="0">
                <a:solidFill>
                  <a:srgbClr val="94A3B8"/>
                </a:solidFill>
              </a:rPr>
              <a:t>Self-correction, domain thresholds, MPC controller, 3-level semantic cache — several genuinely novel features.</a:t>
            </a:r>
          </a:p>
        </p:txBody>
      </p:sp>
      <p:sp>
        <p:nvSpPr>
          <p:cNvPr id="70" name="Rectangle 69"/>
          <p:cNvSpPr/>
          <p:nvPr/>
        </p:nvSpPr>
        <p:spPr>
          <a:xfrm>
            <a:off x="365760" y="4919472"/>
            <a:ext cx="2926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3291840" y="4919472"/>
            <a:ext cx="64008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3931920" y="4919472"/>
            <a:ext cx="82296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754880" y="4919472"/>
            <a:ext cx="7315200" cy="457200"/>
          </a:xfrm>
          <a:prstGeom prst="rect">
            <a:avLst/>
          </a:prstGeom>
          <a:solidFill>
            <a:srgbClr val="263147"/>
          </a:solidFill>
          <a:ln w="508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7200" y="5010912"/>
            <a:ext cx="2743200" cy="457200"/>
          </a:xfrm>
          <a:prstGeom prst="rect">
            <a:avLst/>
          </a:prstGeom>
          <a:noFill/>
        </p:spPr>
        <p:txBody>
          <a:bodyPr wrap="square">
            <a:spAutoFit/>
          </a:bodyPr>
          <a:lstStyle/>
          <a:p>
            <a:pPr algn="l"/>
            <a:r>
              <a:rPr sz="1100" b="0">
                <a:solidFill>
                  <a:srgbClr val="CBD5E1"/>
                </a:solidFill>
              </a:rPr>
              <a:t>Performance</a:t>
            </a:r>
          </a:p>
        </p:txBody>
      </p:sp>
      <p:sp>
        <p:nvSpPr>
          <p:cNvPr id="75" name="TextBox 74"/>
          <p:cNvSpPr txBox="1"/>
          <p:nvPr/>
        </p:nvSpPr>
        <p:spPr>
          <a:xfrm>
            <a:off x="3310128" y="4965192"/>
            <a:ext cx="594360" cy="457200"/>
          </a:xfrm>
          <a:prstGeom prst="rect">
            <a:avLst/>
          </a:prstGeom>
          <a:noFill/>
        </p:spPr>
        <p:txBody>
          <a:bodyPr wrap="square">
            <a:spAutoFit/>
          </a:bodyPr>
          <a:lstStyle/>
          <a:p>
            <a:pPr algn="ctr"/>
            <a:r>
              <a:rPr sz="1500" b="1">
                <a:solidFill>
                  <a:srgbClr val="FBBF24"/>
                </a:solidFill>
              </a:rPr>
              <a:t>B+</a:t>
            </a:r>
          </a:p>
        </p:txBody>
      </p:sp>
      <p:sp>
        <p:nvSpPr>
          <p:cNvPr id="76" name="TextBox 75"/>
          <p:cNvSpPr txBox="1"/>
          <p:nvPr/>
        </p:nvSpPr>
        <p:spPr>
          <a:xfrm>
            <a:off x="3977639" y="5010912"/>
            <a:ext cx="731520" cy="457200"/>
          </a:xfrm>
          <a:prstGeom prst="rect">
            <a:avLst/>
          </a:prstGeom>
          <a:noFill/>
        </p:spPr>
        <p:txBody>
          <a:bodyPr wrap="square">
            <a:spAutoFit/>
          </a:bodyPr>
          <a:lstStyle/>
          <a:p>
            <a:pPr algn="ctr"/>
            <a:r>
              <a:rPr sz="1100" b="0">
                <a:solidFill>
                  <a:srgbClr val="FBBF24"/>
                </a:solidFill>
              </a:rPr>
              <a:t>8.0/10</a:t>
            </a:r>
          </a:p>
        </p:txBody>
      </p:sp>
      <p:sp>
        <p:nvSpPr>
          <p:cNvPr id="77" name="TextBox 76"/>
          <p:cNvSpPr txBox="1"/>
          <p:nvPr/>
        </p:nvSpPr>
        <p:spPr>
          <a:xfrm>
            <a:off x="4846320" y="4992624"/>
            <a:ext cx="7132320" cy="457200"/>
          </a:xfrm>
          <a:prstGeom prst="rect">
            <a:avLst/>
          </a:prstGeom>
          <a:noFill/>
        </p:spPr>
        <p:txBody>
          <a:bodyPr wrap="square">
            <a:spAutoFit/>
          </a:bodyPr>
          <a:lstStyle/>
          <a:p>
            <a:pPr algn="l"/>
            <a:r>
              <a:rPr sz="1000" b="0">
                <a:solidFill>
                  <a:srgbClr val="94A3B8"/>
                </a:solidFill>
              </a:rPr>
              <a:t>~9s end-to-end with NVIDIA NIM is good. Semantic cache works well. Local Ollama is slow (80–240s).</a:t>
            </a:r>
          </a:p>
        </p:txBody>
      </p:sp>
      <p:sp>
        <p:nvSpPr>
          <p:cNvPr id="78" name="Rectangle 77"/>
          <p:cNvSpPr/>
          <p:nvPr/>
        </p:nvSpPr>
        <p:spPr>
          <a:xfrm>
            <a:off x="365760" y="5468112"/>
            <a:ext cx="11430000" cy="502920"/>
          </a:xfrm>
          <a:prstGeom prst="rect">
            <a:avLst/>
          </a:prstGeom>
          <a:solidFill>
            <a:srgbClr val="052010"/>
          </a:solidFill>
          <a:ln w="254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2920" y="5513832"/>
            <a:ext cx="11155680" cy="347472"/>
          </a:xfrm>
          <a:prstGeom prst="rect">
            <a:avLst/>
          </a:prstGeom>
          <a:noFill/>
        </p:spPr>
        <p:txBody>
          <a:bodyPr wrap="square">
            <a:spAutoFit/>
          </a:bodyPr>
          <a:lstStyle/>
          <a:p>
            <a:pPr algn="ctr"/>
            <a:r>
              <a:rPr sz="1500" b="1">
                <a:solidFill>
                  <a:srgbClr val="34D399"/>
                </a:solidFill>
              </a:rPr>
              <a:t>OVERALL GRADE:  A   (8.9 / 10.0)   —   Production-ready AI safety middleware with genuine innovation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23444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9144000" cy="685800"/>
          </a:xfrm>
          <a:prstGeom prst="rect">
            <a:avLst/>
          </a:prstGeom>
          <a:noFill/>
        </p:spPr>
        <p:txBody>
          <a:bodyPr wrap="square">
            <a:spAutoFit/>
          </a:bodyPr>
          <a:lstStyle/>
          <a:p>
            <a:pPr algn="l"/>
            <a:r>
              <a:rPr sz="3200" b="1">
                <a:solidFill>
                  <a:srgbClr val="38BDF8"/>
                </a:solidFill>
              </a:rPr>
              <a:t>13  What to Build Next</a:t>
            </a:r>
          </a:p>
        </p:txBody>
      </p:sp>
      <p:sp>
        <p:nvSpPr>
          <p:cNvPr id="5" name="TextBox 4"/>
          <p:cNvSpPr txBox="1"/>
          <p:nvPr/>
        </p:nvSpPr>
        <p:spPr>
          <a:xfrm>
            <a:off x="365760" y="731520"/>
            <a:ext cx="10972800" cy="457200"/>
          </a:xfrm>
          <a:prstGeom prst="rect">
            <a:avLst/>
          </a:prstGeom>
          <a:noFill/>
        </p:spPr>
        <p:txBody>
          <a:bodyPr wrap="square">
            <a:spAutoFit/>
          </a:bodyPr>
          <a:lstStyle/>
          <a:p>
            <a:pPr algn="l"/>
            <a:r>
              <a:rPr sz="1400" b="0">
                <a:solidFill>
                  <a:srgbClr val="94A3B8"/>
                </a:solidFill>
              </a:rPr>
              <a:t>Roadmap to make the project truly world-class</a:t>
            </a:r>
          </a:p>
        </p:txBody>
      </p:sp>
      <p:sp>
        <p:nvSpPr>
          <p:cNvPr id="6" name="TextBox 5"/>
          <p:cNvSpPr txBox="1"/>
          <p:nvPr/>
        </p:nvSpPr>
        <p:spPr>
          <a:xfrm>
            <a:off x="365760" y="1371600"/>
            <a:ext cx="11430000" cy="292608"/>
          </a:xfrm>
          <a:prstGeom prst="rect">
            <a:avLst/>
          </a:prstGeom>
          <a:noFill/>
        </p:spPr>
        <p:txBody>
          <a:bodyPr wrap="square">
            <a:spAutoFit/>
          </a:bodyPr>
          <a:lstStyle/>
          <a:p>
            <a:pPr algn="l"/>
            <a:r>
              <a:rPr sz="1300" b="1">
                <a:solidFill>
                  <a:srgbClr val="38BDF8"/>
                </a:solidFill>
              </a:rPr>
              <a:t>HIGH IMPACT — Tier 1</a:t>
            </a:r>
          </a:p>
        </p:txBody>
      </p:sp>
      <p:sp>
        <p:nvSpPr>
          <p:cNvPr id="7" name="TextBox 6"/>
          <p:cNvSpPr txBox="1"/>
          <p:nvPr/>
        </p:nvSpPr>
        <p:spPr>
          <a:xfrm>
            <a:off x="457200" y="1664208"/>
            <a:ext cx="11155680" cy="301752"/>
          </a:xfrm>
          <a:prstGeom prst="rect">
            <a:avLst/>
          </a:prstGeom>
          <a:noFill/>
        </p:spPr>
        <p:txBody>
          <a:bodyPr wrap="square">
            <a:spAutoFit/>
          </a:bodyPr>
          <a:lstStyle/>
          <a:p>
            <a:pPr algn="l"/>
            <a:r>
              <a:rPr sz="1100" b="0">
                <a:solidFill>
                  <a:srgbClr val="CBD5E1"/>
                </a:solidFill>
              </a:rPr>
              <a:t>  →  Redis-backed rate limiting (ZADD/ZREMRANGEBYSCORE) — fixes multi-worker gap</a:t>
            </a:r>
          </a:p>
        </p:txBody>
      </p:sp>
      <p:sp>
        <p:nvSpPr>
          <p:cNvPr id="8" name="TextBox 7"/>
          <p:cNvSpPr txBox="1"/>
          <p:nvPr/>
        </p:nvSpPr>
        <p:spPr>
          <a:xfrm>
            <a:off x="457200" y="1965960"/>
            <a:ext cx="11155680" cy="301752"/>
          </a:xfrm>
          <a:prstGeom prst="rect">
            <a:avLst/>
          </a:prstGeom>
          <a:noFill/>
        </p:spPr>
        <p:txBody>
          <a:bodyPr wrap="square">
            <a:spAutoFit/>
          </a:bodyPr>
          <a:lstStyle/>
          <a:p>
            <a:pPr algn="l"/>
            <a:r>
              <a:rPr sz="1100" b="0">
                <a:solidFill>
                  <a:srgbClr val="CBD5E1"/>
                </a:solidFill>
              </a:rPr>
              <a:t>  →  Async Redis client (redis.asyncio) — unblocks event loop on cache ops</a:t>
            </a:r>
          </a:p>
        </p:txBody>
      </p:sp>
      <p:sp>
        <p:nvSpPr>
          <p:cNvPr id="9" name="TextBox 8"/>
          <p:cNvSpPr txBox="1"/>
          <p:nvPr/>
        </p:nvSpPr>
        <p:spPr>
          <a:xfrm>
            <a:off x="457200" y="2267712"/>
            <a:ext cx="11155680" cy="301752"/>
          </a:xfrm>
          <a:prstGeom prst="rect">
            <a:avLst/>
          </a:prstGeom>
          <a:noFill/>
        </p:spPr>
        <p:txBody>
          <a:bodyPr wrap="square">
            <a:spAutoFit/>
          </a:bodyPr>
          <a:lstStyle/>
          <a:p>
            <a:pPr algn="l"/>
            <a:r>
              <a:rPr sz="1100" b="0">
                <a:solidFill>
                  <a:srgbClr val="CBD5E1"/>
                </a:solidFill>
              </a:rPr>
              <a:t>  →  Streaming claim extraction — pipe claims to verifier as they are extracted</a:t>
            </a:r>
          </a:p>
        </p:txBody>
      </p:sp>
      <p:sp>
        <p:nvSpPr>
          <p:cNvPr id="10" name="TextBox 9"/>
          <p:cNvSpPr txBox="1"/>
          <p:nvPr/>
        </p:nvSpPr>
        <p:spPr>
          <a:xfrm>
            <a:off x="457200" y="2569464"/>
            <a:ext cx="11155680" cy="301752"/>
          </a:xfrm>
          <a:prstGeom prst="rect">
            <a:avLst/>
          </a:prstGeom>
          <a:noFill/>
        </p:spPr>
        <p:txBody>
          <a:bodyPr wrap="square">
            <a:spAutoFit/>
          </a:bodyPr>
          <a:lstStyle/>
          <a:p>
            <a:pPr algn="l"/>
            <a:r>
              <a:rPr sz="1100" b="0">
                <a:solidFill>
                  <a:srgbClr val="CBD5E1"/>
                </a:solidFill>
              </a:rPr>
              <a:t>  →  Async KB ingest — offload upsert() to thread so large docs don't stall the loop</a:t>
            </a:r>
          </a:p>
        </p:txBody>
      </p:sp>
      <p:sp>
        <p:nvSpPr>
          <p:cNvPr id="11" name="TextBox 10"/>
          <p:cNvSpPr txBox="1"/>
          <p:nvPr/>
        </p:nvSpPr>
        <p:spPr>
          <a:xfrm>
            <a:off x="365760" y="2980944"/>
            <a:ext cx="11430000" cy="292608"/>
          </a:xfrm>
          <a:prstGeom prst="rect">
            <a:avLst/>
          </a:prstGeom>
          <a:noFill/>
        </p:spPr>
        <p:txBody>
          <a:bodyPr wrap="square">
            <a:spAutoFit/>
          </a:bodyPr>
          <a:lstStyle/>
          <a:p>
            <a:pPr algn="l"/>
            <a:r>
              <a:rPr sz="1300" b="1">
                <a:solidFill>
                  <a:srgbClr val="FBBF24"/>
                </a:solidFill>
              </a:rPr>
              <a:t>QUALITY — Tier 2</a:t>
            </a:r>
          </a:p>
        </p:txBody>
      </p:sp>
      <p:sp>
        <p:nvSpPr>
          <p:cNvPr id="12" name="TextBox 11"/>
          <p:cNvSpPr txBox="1"/>
          <p:nvPr/>
        </p:nvSpPr>
        <p:spPr>
          <a:xfrm>
            <a:off x="457200" y="3273552"/>
            <a:ext cx="11155680" cy="301752"/>
          </a:xfrm>
          <a:prstGeom prst="rect">
            <a:avLst/>
          </a:prstGeom>
          <a:noFill/>
        </p:spPr>
        <p:txBody>
          <a:bodyPr wrap="square">
            <a:spAutoFit/>
          </a:bodyPr>
          <a:lstStyle/>
          <a:p>
            <a:pPr algn="l"/>
            <a:r>
              <a:rPr sz="1100" b="0">
                <a:solidFill>
                  <a:srgbClr val="CBD5E1"/>
                </a:solidFill>
              </a:rPr>
              <a:t>  →  CI precision/recall gate — fail the build if accuracy drops below threshold</a:t>
            </a:r>
          </a:p>
        </p:txBody>
      </p:sp>
      <p:sp>
        <p:nvSpPr>
          <p:cNvPr id="13" name="TextBox 12"/>
          <p:cNvSpPr txBox="1"/>
          <p:nvPr/>
        </p:nvSpPr>
        <p:spPr>
          <a:xfrm>
            <a:off x="457200" y="3575304"/>
            <a:ext cx="11155680" cy="301752"/>
          </a:xfrm>
          <a:prstGeom prst="rect">
            <a:avLst/>
          </a:prstGeom>
          <a:noFill/>
        </p:spPr>
        <p:txBody>
          <a:bodyPr wrap="square">
            <a:spAutoFit/>
          </a:bodyPr>
          <a:lstStyle/>
          <a:p>
            <a:pPr algn="l"/>
            <a:r>
              <a:rPr sz="1100" b="0">
                <a:solidFill>
                  <a:srgbClr val="CBD5E1"/>
                </a:solidFill>
              </a:rPr>
              <a:t>  →  Confidence calibration (Platt scaling) — raw LLM confidence is overconfident</a:t>
            </a:r>
          </a:p>
        </p:txBody>
      </p:sp>
      <p:sp>
        <p:nvSpPr>
          <p:cNvPr id="14" name="TextBox 13"/>
          <p:cNvSpPr txBox="1"/>
          <p:nvPr/>
        </p:nvSpPr>
        <p:spPr>
          <a:xfrm>
            <a:off x="457200" y="3877056"/>
            <a:ext cx="11155680" cy="301752"/>
          </a:xfrm>
          <a:prstGeom prst="rect">
            <a:avLst/>
          </a:prstGeom>
          <a:noFill/>
        </p:spPr>
        <p:txBody>
          <a:bodyPr wrap="square">
            <a:spAutoFit/>
          </a:bodyPr>
          <a:lstStyle/>
          <a:p>
            <a:pPr algn="l"/>
            <a:r>
              <a:rPr sz="1100" b="0">
                <a:solidFill>
                  <a:srgbClr val="CBD5E1"/>
                </a:solidFill>
              </a:rPr>
              <a:t>  →  Per-claim batch isolation — stop one critical claim from forcing full ensemble</a:t>
            </a:r>
          </a:p>
        </p:txBody>
      </p:sp>
      <p:sp>
        <p:nvSpPr>
          <p:cNvPr id="15" name="TextBox 14"/>
          <p:cNvSpPr txBox="1"/>
          <p:nvPr/>
        </p:nvSpPr>
        <p:spPr>
          <a:xfrm>
            <a:off x="457200" y="4178808"/>
            <a:ext cx="11155680" cy="301752"/>
          </a:xfrm>
          <a:prstGeom prst="rect">
            <a:avLst/>
          </a:prstGeom>
          <a:noFill/>
        </p:spPr>
        <p:txBody>
          <a:bodyPr wrap="square">
            <a:spAutoFit/>
          </a:bodyPr>
          <a:lstStyle/>
          <a:p>
            <a:pPr algn="l"/>
            <a:r>
              <a:rPr sz="1100" b="0">
                <a:solidFill>
                  <a:srgbClr val="CBD5E1"/>
                </a:solidFill>
              </a:rPr>
              <a:t>  →  Multilingual support — add spaCy xx_ent_wiki_sm for non-English KB ingestion</a:t>
            </a:r>
          </a:p>
        </p:txBody>
      </p:sp>
      <p:sp>
        <p:nvSpPr>
          <p:cNvPr id="16" name="TextBox 15"/>
          <p:cNvSpPr txBox="1"/>
          <p:nvPr/>
        </p:nvSpPr>
        <p:spPr>
          <a:xfrm>
            <a:off x="365760" y="4590288"/>
            <a:ext cx="11430000" cy="292608"/>
          </a:xfrm>
          <a:prstGeom prst="rect">
            <a:avLst/>
          </a:prstGeom>
          <a:noFill/>
        </p:spPr>
        <p:txBody>
          <a:bodyPr wrap="square">
            <a:spAutoFit/>
          </a:bodyPr>
          <a:lstStyle/>
          <a:p>
            <a:pPr algn="l"/>
            <a:r>
              <a:rPr sz="1300" b="1">
                <a:solidFill>
                  <a:srgbClr val="34D399"/>
                </a:solidFill>
              </a:rPr>
              <a:t>INFRASTRUCTURE — Tier 3</a:t>
            </a:r>
          </a:p>
        </p:txBody>
      </p:sp>
      <p:sp>
        <p:nvSpPr>
          <p:cNvPr id="17" name="TextBox 16"/>
          <p:cNvSpPr txBox="1"/>
          <p:nvPr/>
        </p:nvSpPr>
        <p:spPr>
          <a:xfrm>
            <a:off x="457200" y="4882896"/>
            <a:ext cx="11155680" cy="301752"/>
          </a:xfrm>
          <a:prstGeom prst="rect">
            <a:avLst/>
          </a:prstGeom>
          <a:noFill/>
        </p:spPr>
        <p:txBody>
          <a:bodyPr wrap="square">
            <a:spAutoFit/>
          </a:bodyPr>
          <a:lstStyle/>
          <a:p>
            <a:pPr algn="l"/>
            <a:r>
              <a:rPr sz="1100" b="0">
                <a:solidFill>
                  <a:srgbClr val="CBD5E1"/>
                </a:solidFill>
              </a:rPr>
              <a:t>  →  Prometheus /metrics endpoint + Grafana dashboard (latency p95, cache hit rate)</a:t>
            </a:r>
          </a:p>
        </p:txBody>
      </p:sp>
      <p:sp>
        <p:nvSpPr>
          <p:cNvPr id="18" name="TextBox 17"/>
          <p:cNvSpPr txBox="1"/>
          <p:nvPr/>
        </p:nvSpPr>
        <p:spPr>
          <a:xfrm>
            <a:off x="457200" y="5184648"/>
            <a:ext cx="11155680" cy="301752"/>
          </a:xfrm>
          <a:prstGeom prst="rect">
            <a:avLst/>
          </a:prstGeom>
          <a:noFill/>
        </p:spPr>
        <p:txBody>
          <a:bodyPr wrap="square">
            <a:spAutoFit/>
          </a:bodyPr>
          <a:lstStyle/>
          <a:p>
            <a:pPr algn="l"/>
            <a:r>
              <a:rPr sz="1100" b="0">
                <a:solidFill>
                  <a:srgbClr val="CBD5E1"/>
                </a:solidFill>
              </a:rPr>
              <a:t>  →  Model versioning — version-stamp embeddings so KB can survive Chroma upgrades</a:t>
            </a:r>
          </a:p>
        </p:txBody>
      </p:sp>
      <p:sp>
        <p:nvSpPr>
          <p:cNvPr id="19" name="TextBox 18"/>
          <p:cNvSpPr txBox="1"/>
          <p:nvPr/>
        </p:nvSpPr>
        <p:spPr>
          <a:xfrm>
            <a:off x="457200" y="5486400"/>
            <a:ext cx="11155680" cy="301752"/>
          </a:xfrm>
          <a:prstGeom prst="rect">
            <a:avLst/>
          </a:prstGeom>
          <a:noFill/>
        </p:spPr>
        <p:txBody>
          <a:bodyPr wrap="square">
            <a:spAutoFit/>
          </a:bodyPr>
          <a:lstStyle/>
          <a:p>
            <a:pPr algn="l"/>
            <a:r>
              <a:rPr sz="1100" b="0">
                <a:solidFill>
                  <a:srgbClr val="CBD5E1"/>
                </a:solidFill>
              </a:rPr>
              <a:t>  →  Multi-tenant isolation — per-user KB namespaces + per-user audit logs</a:t>
            </a:r>
          </a:p>
        </p:txBody>
      </p:sp>
      <p:sp>
        <p:nvSpPr>
          <p:cNvPr id="20" name="TextBox 19"/>
          <p:cNvSpPr txBox="1"/>
          <p:nvPr/>
        </p:nvSpPr>
        <p:spPr>
          <a:xfrm>
            <a:off x="457200" y="5788152"/>
            <a:ext cx="11155680" cy="301752"/>
          </a:xfrm>
          <a:prstGeom prst="rect">
            <a:avLst/>
          </a:prstGeom>
          <a:noFill/>
        </p:spPr>
        <p:txBody>
          <a:bodyPr wrap="square">
            <a:spAutoFit/>
          </a:bodyPr>
          <a:lstStyle/>
          <a:p>
            <a:pPr algn="l"/>
            <a:r>
              <a:rPr sz="1100" b="0">
                <a:solidFill>
                  <a:srgbClr val="CBD5E1"/>
                </a:solidFill>
              </a:rPr>
              <a:t>  →  Automated evaluation in CI — run eval_cases.yaml on every pull request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0" y="914400"/>
            <a:ext cx="9418320" cy="4114800"/>
          </a:xfrm>
          <a:prstGeom prst="rect">
            <a:avLst/>
          </a:prstGeom>
          <a:solidFill>
            <a:srgbClr val="1E293B"/>
          </a:solidFill>
          <a:ln w="254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418320" cy="914400"/>
          </a:xfrm>
          <a:prstGeom prst="rect">
            <a:avLst/>
          </a:prstGeom>
          <a:noFill/>
        </p:spPr>
        <p:txBody>
          <a:bodyPr wrap="square">
            <a:spAutoFit/>
          </a:bodyPr>
          <a:lstStyle/>
          <a:p>
            <a:pPr algn="ctr"/>
            <a:r>
              <a:rPr sz="5200" b="1">
                <a:solidFill>
                  <a:srgbClr val="38BDF8"/>
                </a:solidFill>
              </a:rPr>
              <a:t>HalluCheck v3</a:t>
            </a:r>
          </a:p>
        </p:txBody>
      </p:sp>
      <p:sp>
        <p:nvSpPr>
          <p:cNvPr id="5" name="TextBox 4"/>
          <p:cNvSpPr txBox="1"/>
          <p:nvPr/>
        </p:nvSpPr>
        <p:spPr>
          <a:xfrm>
            <a:off x="1371600" y="2103120"/>
            <a:ext cx="9418320" cy="502920"/>
          </a:xfrm>
          <a:prstGeom prst="rect">
            <a:avLst/>
          </a:prstGeom>
          <a:noFill/>
        </p:spPr>
        <p:txBody>
          <a:bodyPr wrap="square">
            <a:spAutoFit/>
          </a:bodyPr>
          <a:lstStyle/>
          <a:p>
            <a:pPr algn="ctr"/>
            <a:r>
              <a:rPr sz="2200" b="0">
                <a:solidFill>
                  <a:srgbClr val="FFFFFF"/>
                </a:solidFill>
              </a:rPr>
              <a:t>Keeping AI Honest — One Claim at a Time</a:t>
            </a:r>
          </a:p>
        </p:txBody>
      </p:sp>
      <p:sp>
        <p:nvSpPr>
          <p:cNvPr id="6" name="TextBox 5"/>
          <p:cNvSpPr txBox="1"/>
          <p:nvPr/>
        </p:nvSpPr>
        <p:spPr>
          <a:xfrm>
            <a:off x="1371600" y="2788920"/>
            <a:ext cx="9418320" cy="411480"/>
          </a:xfrm>
          <a:prstGeom prst="rect">
            <a:avLst/>
          </a:prstGeom>
          <a:noFill/>
        </p:spPr>
        <p:txBody>
          <a:bodyPr wrap="square">
            <a:spAutoFit/>
          </a:bodyPr>
          <a:lstStyle/>
          <a:p>
            <a:pPr algn="ctr"/>
            <a:r>
              <a:rPr sz="1600" b="0">
                <a:solidFill>
                  <a:srgbClr val="34D399"/>
                </a:solidFill>
              </a:rPr>
              <a:t>Quick-start:  python run_proxy.py  →  http://localhost:8080</a:t>
            </a:r>
          </a:p>
        </p:txBody>
      </p:sp>
      <p:sp>
        <p:nvSpPr>
          <p:cNvPr id="7" name="Rectangle 6"/>
          <p:cNvSpPr/>
          <p:nvPr/>
        </p:nvSpPr>
        <p:spPr>
          <a:xfrm>
            <a:off x="8229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5120640"/>
            <a:ext cx="1737360" cy="457200"/>
          </a:xfrm>
          <a:prstGeom prst="rect">
            <a:avLst/>
          </a:prstGeom>
          <a:noFill/>
        </p:spPr>
        <p:txBody>
          <a:bodyPr wrap="square">
            <a:spAutoFit/>
          </a:bodyPr>
          <a:lstStyle/>
          <a:p>
            <a:pPr algn="ctr"/>
            <a:r>
              <a:rPr sz="2800" b="1">
                <a:solidFill>
                  <a:srgbClr val="38BDF8"/>
                </a:solidFill>
              </a:rPr>
              <a:t>llama-3.2-3b</a:t>
            </a:r>
          </a:p>
        </p:txBody>
      </p:sp>
      <p:sp>
        <p:nvSpPr>
          <p:cNvPr id="9" name="TextBox 8"/>
          <p:cNvSpPr txBox="1"/>
          <p:nvPr/>
        </p:nvSpPr>
        <p:spPr>
          <a:xfrm>
            <a:off x="822960" y="5532120"/>
            <a:ext cx="1737360" cy="274320"/>
          </a:xfrm>
          <a:prstGeom prst="rect">
            <a:avLst/>
          </a:prstGeom>
          <a:noFill/>
        </p:spPr>
        <p:txBody>
          <a:bodyPr wrap="square">
            <a:spAutoFit/>
          </a:bodyPr>
          <a:lstStyle/>
          <a:p>
            <a:pPr algn="ctr"/>
            <a:r>
              <a:rPr sz="1100" b="0">
                <a:solidFill>
                  <a:srgbClr val="94A3B8"/>
                </a:solidFill>
              </a:rPr>
              <a:t>Extractor</a:t>
            </a:r>
          </a:p>
        </p:txBody>
      </p:sp>
      <p:sp>
        <p:nvSpPr>
          <p:cNvPr id="10" name="Rectangle 9"/>
          <p:cNvSpPr/>
          <p:nvPr/>
        </p:nvSpPr>
        <p:spPr>
          <a:xfrm>
            <a:off x="26517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5120640"/>
            <a:ext cx="1737360" cy="457200"/>
          </a:xfrm>
          <a:prstGeom prst="rect">
            <a:avLst/>
          </a:prstGeom>
          <a:noFill/>
        </p:spPr>
        <p:txBody>
          <a:bodyPr wrap="square">
            <a:spAutoFit/>
          </a:bodyPr>
          <a:lstStyle/>
          <a:p>
            <a:pPr algn="ctr"/>
            <a:r>
              <a:rPr sz="2800" b="1">
                <a:solidFill>
                  <a:srgbClr val="38BDF8"/>
                </a:solidFill>
              </a:rPr>
              <a:t>llama-3.3-70b</a:t>
            </a:r>
          </a:p>
        </p:txBody>
      </p:sp>
      <p:sp>
        <p:nvSpPr>
          <p:cNvPr id="12" name="TextBox 11"/>
          <p:cNvSpPr txBox="1"/>
          <p:nvPr/>
        </p:nvSpPr>
        <p:spPr>
          <a:xfrm>
            <a:off x="2651760" y="5532120"/>
            <a:ext cx="1737360" cy="274320"/>
          </a:xfrm>
          <a:prstGeom prst="rect">
            <a:avLst/>
          </a:prstGeom>
          <a:noFill/>
        </p:spPr>
        <p:txBody>
          <a:bodyPr wrap="square">
            <a:spAutoFit/>
          </a:bodyPr>
          <a:lstStyle/>
          <a:p>
            <a:pPr algn="ctr"/>
            <a:r>
              <a:rPr sz="1100" b="0">
                <a:solidFill>
                  <a:srgbClr val="94A3B8"/>
                </a:solidFill>
              </a:rPr>
              <a:t>Verifier</a:t>
            </a:r>
          </a:p>
        </p:txBody>
      </p:sp>
      <p:sp>
        <p:nvSpPr>
          <p:cNvPr id="13" name="Rectangle 12"/>
          <p:cNvSpPr/>
          <p:nvPr/>
        </p:nvSpPr>
        <p:spPr>
          <a:xfrm>
            <a:off x="44805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5120640"/>
            <a:ext cx="1737360" cy="457200"/>
          </a:xfrm>
          <a:prstGeom prst="rect">
            <a:avLst/>
          </a:prstGeom>
          <a:noFill/>
        </p:spPr>
        <p:txBody>
          <a:bodyPr wrap="square">
            <a:spAutoFit/>
          </a:bodyPr>
          <a:lstStyle/>
          <a:p>
            <a:pPr algn="ctr"/>
            <a:r>
              <a:rPr sz="2800" b="1">
                <a:solidFill>
                  <a:srgbClr val="FBBF24"/>
                </a:solidFill>
              </a:rPr>
              <a:t>ChromaDB</a:t>
            </a:r>
          </a:p>
        </p:txBody>
      </p:sp>
      <p:sp>
        <p:nvSpPr>
          <p:cNvPr id="15" name="TextBox 14"/>
          <p:cNvSpPr txBox="1"/>
          <p:nvPr/>
        </p:nvSpPr>
        <p:spPr>
          <a:xfrm>
            <a:off x="4480560" y="5532120"/>
            <a:ext cx="1737360" cy="274320"/>
          </a:xfrm>
          <a:prstGeom prst="rect">
            <a:avLst/>
          </a:prstGeom>
          <a:noFill/>
        </p:spPr>
        <p:txBody>
          <a:bodyPr wrap="square">
            <a:spAutoFit/>
          </a:bodyPr>
          <a:lstStyle/>
          <a:p>
            <a:pPr algn="ctr"/>
            <a:r>
              <a:rPr sz="1100" b="0">
                <a:solidFill>
                  <a:srgbClr val="94A3B8"/>
                </a:solidFill>
              </a:rPr>
              <a:t>Vector DB</a:t>
            </a:r>
          </a:p>
        </p:txBody>
      </p:sp>
      <p:sp>
        <p:nvSpPr>
          <p:cNvPr id="16" name="Rectangle 15"/>
          <p:cNvSpPr/>
          <p:nvPr/>
        </p:nvSpPr>
        <p:spPr>
          <a:xfrm>
            <a:off x="63093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5120640"/>
            <a:ext cx="1737360" cy="457200"/>
          </a:xfrm>
          <a:prstGeom prst="rect">
            <a:avLst/>
          </a:prstGeom>
          <a:noFill/>
        </p:spPr>
        <p:txBody>
          <a:bodyPr wrap="square">
            <a:spAutoFit/>
          </a:bodyPr>
          <a:lstStyle/>
          <a:p>
            <a:pPr algn="ctr"/>
            <a:r>
              <a:rPr sz="2800" b="1">
                <a:solidFill>
                  <a:srgbClr val="FBBF24"/>
                </a:solidFill>
              </a:rPr>
              <a:t>Redis</a:t>
            </a:r>
          </a:p>
        </p:txBody>
      </p:sp>
      <p:sp>
        <p:nvSpPr>
          <p:cNvPr id="18" name="TextBox 17"/>
          <p:cNvSpPr txBox="1"/>
          <p:nvPr/>
        </p:nvSpPr>
        <p:spPr>
          <a:xfrm>
            <a:off x="6309360" y="5532120"/>
            <a:ext cx="1737360" cy="274320"/>
          </a:xfrm>
          <a:prstGeom prst="rect">
            <a:avLst/>
          </a:prstGeom>
          <a:noFill/>
        </p:spPr>
        <p:txBody>
          <a:bodyPr wrap="square">
            <a:spAutoFit/>
          </a:bodyPr>
          <a:lstStyle/>
          <a:p>
            <a:pPr algn="ctr"/>
            <a:r>
              <a:rPr sz="1100" b="0">
                <a:solidFill>
                  <a:srgbClr val="94A3B8"/>
                </a:solidFill>
              </a:rPr>
              <a:t>Cache</a:t>
            </a:r>
          </a:p>
        </p:txBody>
      </p:sp>
      <p:sp>
        <p:nvSpPr>
          <p:cNvPr id="19" name="Rectangle 18"/>
          <p:cNvSpPr/>
          <p:nvPr/>
        </p:nvSpPr>
        <p:spPr>
          <a:xfrm>
            <a:off x="81381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5120640"/>
            <a:ext cx="1737360" cy="457200"/>
          </a:xfrm>
          <a:prstGeom prst="rect">
            <a:avLst/>
          </a:prstGeom>
          <a:noFill/>
        </p:spPr>
        <p:txBody>
          <a:bodyPr wrap="square">
            <a:spAutoFit/>
          </a:bodyPr>
          <a:lstStyle/>
          <a:p>
            <a:pPr algn="ctr"/>
            <a:r>
              <a:rPr sz="2800" b="1">
                <a:solidFill>
                  <a:srgbClr val="34D399"/>
                </a:solidFill>
              </a:rPr>
              <a:t>React+Vite</a:t>
            </a:r>
          </a:p>
        </p:txBody>
      </p:sp>
      <p:sp>
        <p:nvSpPr>
          <p:cNvPr id="21" name="TextBox 20"/>
          <p:cNvSpPr txBox="1"/>
          <p:nvPr/>
        </p:nvSpPr>
        <p:spPr>
          <a:xfrm>
            <a:off x="8138160" y="5532120"/>
            <a:ext cx="1737360" cy="274320"/>
          </a:xfrm>
          <a:prstGeom prst="rect">
            <a:avLst/>
          </a:prstGeom>
          <a:noFill/>
        </p:spPr>
        <p:txBody>
          <a:bodyPr wrap="square">
            <a:spAutoFit/>
          </a:bodyPr>
          <a:lstStyle/>
          <a:p>
            <a:pPr algn="ctr"/>
            <a:r>
              <a:rPr sz="1100" b="0">
                <a:solidFill>
                  <a:srgbClr val="94A3B8"/>
                </a:solidFill>
              </a:rPr>
              <a:t>Frontend</a:t>
            </a:r>
          </a:p>
        </p:txBody>
      </p:sp>
      <p:sp>
        <p:nvSpPr>
          <p:cNvPr id="22" name="Rectangle 21"/>
          <p:cNvSpPr/>
          <p:nvPr/>
        </p:nvSpPr>
        <p:spPr>
          <a:xfrm>
            <a:off x="9966960" y="5074920"/>
            <a:ext cx="1737360" cy="8229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120640"/>
            <a:ext cx="1737360" cy="457200"/>
          </a:xfrm>
          <a:prstGeom prst="rect">
            <a:avLst/>
          </a:prstGeom>
          <a:noFill/>
        </p:spPr>
        <p:txBody>
          <a:bodyPr wrap="square">
            <a:spAutoFit/>
          </a:bodyPr>
          <a:lstStyle/>
          <a:p>
            <a:pPr algn="ctr"/>
            <a:r>
              <a:rPr sz="2800" b="1">
                <a:solidFill>
                  <a:srgbClr val="34D399"/>
                </a:solidFill>
              </a:rPr>
              <a:t>A</a:t>
            </a:r>
          </a:p>
        </p:txBody>
      </p:sp>
      <p:sp>
        <p:nvSpPr>
          <p:cNvPr id="24" name="TextBox 23"/>
          <p:cNvSpPr txBox="1"/>
          <p:nvPr/>
        </p:nvSpPr>
        <p:spPr>
          <a:xfrm>
            <a:off x="9966960" y="5532120"/>
            <a:ext cx="1737360" cy="274320"/>
          </a:xfrm>
          <a:prstGeom prst="rect">
            <a:avLst/>
          </a:prstGeom>
          <a:noFill/>
        </p:spPr>
        <p:txBody>
          <a:bodyPr wrap="square">
            <a:spAutoFit/>
          </a:bodyPr>
          <a:lstStyle/>
          <a:p>
            <a:pPr algn="ctr"/>
            <a:r>
              <a:rPr sz="1100" b="0">
                <a:solidFill>
                  <a:srgbClr val="94A3B8"/>
                </a:solidFill>
              </a:rPr>
              <a:t>Grade</a:t>
            </a:r>
          </a:p>
        </p:txBody>
      </p:sp>
      <p:sp>
        <p:nvSpPr>
          <p:cNvPr id="25" name="TextBox 24"/>
          <p:cNvSpPr txBox="1"/>
          <p:nvPr/>
        </p:nvSpPr>
        <p:spPr>
          <a:xfrm>
            <a:off x="0" y="6126480"/>
            <a:ext cx="12188952" cy="365760"/>
          </a:xfrm>
          <a:prstGeom prst="rect">
            <a:avLst/>
          </a:prstGeom>
          <a:noFill/>
        </p:spPr>
        <p:txBody>
          <a:bodyPr wrap="square">
            <a:spAutoFit/>
          </a:bodyPr>
          <a:lstStyle/>
          <a:p>
            <a:pPr algn="ctr"/>
            <a:r>
              <a:rPr sz="1400" b="0">
                <a:solidFill>
                  <a:srgbClr val="94A3B8"/>
                </a:solidFill>
              </a:rPr>
              <a:t>Thank you for reviewing HalluCheck v3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